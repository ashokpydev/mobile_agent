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5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3333333" cy="7500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 <Relationship Id="rId2" Type="http://schemas.openxmlformats.org/officeDocument/2006/relationships/slide" Target="slides/slide2.xml"/> <Relationship Id="rId3" Type="http://schemas.openxmlformats.org/officeDocument/2006/relationships/slide" Target="slides/slide3.xml"/> <Relationship Id="rId4" Type="http://schemas.openxmlformats.org/officeDocument/2006/relationships/slide" Target="slides/slide4.xml"/> <Relationship Id="rId5" Type="http://schemas.openxmlformats.org/officeDocument/2006/relationships/slide" Target="slides/slide5.xml"/> <Relationship Id="rId6" Type="http://schemas.openxmlformats.org/officeDocument/2006/relationships/slide" Target="slides/slide6.xml"/> <Relationship Id="rId7" Type="http://schemas.openxmlformats.org/officeDocument/2006/relationships/slide" Target="slides/slide7.xml"/> <Relationship Id="rId8" Type="http://schemas.openxmlformats.org/officeDocument/2006/relationships/slide" Target="slides/slide8.xml"/> <Relationship Id="rId9" Type="http://schemas.openxmlformats.org/officeDocument/2006/relationships/slide" Target="slides/slide9.xml"/> <Relationship Id="rId10" Type="http://schemas.openxmlformats.org/officeDocument/2006/relationships/slide" Target="slides/slide10.xml"/> <Relationship Id="rId11" Type="http://schemas.openxmlformats.org/officeDocument/2006/relationships/slide" Target="slides/slide11.xml"/> <Relationship Id="rId12" Type="http://schemas.openxmlformats.org/officeDocument/2006/relationships/slide" Target="slides/slide12.xml"/> <Relationship Id="rId13" Type="http://schemas.openxmlformats.org/officeDocument/2006/relationships/slide" Target="slides/slide13.xml"/> <Relationship Id="rId14" Type="http://schemas.openxmlformats.org/officeDocument/2006/relationships/slide" Target="slides/slide14.xml"/> <Relationship Id="rId15" Type="http://schemas.openxmlformats.org/officeDocument/2006/relationships/slideMaster" Target="slideMasters/slideMaster1.xml"/> <Relationship Id="rId16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rk Background"/>
          <p:cNvSpPr/>
          <p:nvPr/>
        </p:nvSpPr>
        <p:spPr>
          <a:xfrm>
            <a:off x="0" y="0"/>
            <a:ext cx="13333333" cy="7500000"/>
          </a:xfrm>
          <a:prstGeom prst="roundRect">
            <a:avLst>
              <a:gd name="adj" fmla="val 9000"/>
            </a:avLst>
          </a:prstGeom>
          <a:solidFill>
            <a:srgbClr val="0714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Brand Rail"/>
          <p:cNvSpPr/>
          <p:nvPr/>
        </p:nvSpPr>
        <p:spPr>
          <a:xfrm>
            <a:off x="0" y="0"/>
            <a:ext cx="237744" cy="7500000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k Title"/>
          <p:cNvSpPr txBox="1"/>
          <p:nvPr/>
        </p:nvSpPr>
        <p:spPr>
          <a:xfrm>
            <a:off x="777240" y="12344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4400" b="1">
                <a:solidFill>
                  <a:srgbClr val="FFFFFF"/>
                </a:solidFill>
                <a:latin typeface="Aptos"/>
              </a:rPr>
              <a:t>SentryNet</a:t>
            </a:r>
            <a:endParaRPr lang="en-US" sz="4400"/>
          </a:p>
        </p:txBody>
      </p:sp>
      <p:sp>
        <p:nvSpPr>
          <p:cNvPr id="5" name="Text"/>
          <p:cNvSpPr txBox="1"/>
          <p:nvPr/>
        </p:nvSpPr>
        <p:spPr>
          <a:xfrm>
            <a:off x="804672" y="1938528"/>
            <a:ext cx="89611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>
                <a:solidFill>
                  <a:srgbClr val="D9E4F2"/>
                </a:solidFill>
                <a:latin typeface="Aptos"/>
              </a:rPr>
              <a:t>Mobile Privacy Guardian Application</a:t>
            </a:r>
            <a:endParaRPr lang="en-US" sz="2200"/>
          </a:p>
          <a:p>
            <a:pPr algn="l"/>
            <a:r>
              <a:rPr lang="en-US" sz="2200">
                <a:solidFill>
                  <a:srgbClr val="D9E4F2"/>
                </a:solidFill>
                <a:latin typeface="Aptos"/>
              </a:rPr>
              <a:t>Current Progress, Architecture, Technologies, Flow, and Roadmap</a:t>
            </a:r>
            <a:endParaRPr lang="en-US" sz="2200"/>
          </a:p>
        </p:txBody>
      </p:sp>
      <p:sp>
        <p:nvSpPr>
          <p:cNvPr id="6" name="Card"/>
          <p:cNvSpPr/>
          <p:nvPr/>
        </p:nvSpPr>
        <p:spPr>
          <a:xfrm>
            <a:off x="822960" y="4297680"/>
            <a:ext cx="274320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ccent"/>
          <p:cNvSpPr/>
          <p:nvPr/>
        </p:nvSpPr>
        <p:spPr>
          <a:xfrm>
            <a:off x="822960" y="4297680"/>
            <a:ext cx="73152" cy="868680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 txBox="1"/>
          <p:nvPr/>
        </p:nvSpPr>
        <p:spPr>
          <a:xfrm>
            <a:off x="1024128" y="4462272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Product focus</a:t>
            </a:r>
            <a:endParaRPr lang="en-US" sz="1500"/>
          </a:p>
        </p:txBody>
      </p:sp>
      <p:sp>
        <p:nvSpPr>
          <p:cNvPr id="9" name="Text"/>
          <p:cNvSpPr txBox="1"/>
          <p:nvPr/>
        </p:nvSpPr>
        <p:spPr>
          <a:xfrm>
            <a:off x="1024128" y="4828032"/>
            <a:ext cx="23591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Privacy-first Android security assistant</a:t>
            </a:r>
            <a:endParaRPr lang="en-US" sz="1200"/>
          </a:p>
        </p:txBody>
      </p:sp>
      <p:sp>
        <p:nvSpPr>
          <p:cNvPr id="10" name="Card"/>
          <p:cNvSpPr/>
          <p:nvPr/>
        </p:nvSpPr>
        <p:spPr>
          <a:xfrm>
            <a:off x="3794760" y="4297680"/>
            <a:ext cx="274320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ccent"/>
          <p:cNvSpPr/>
          <p:nvPr/>
        </p:nvSpPr>
        <p:spPr>
          <a:xfrm>
            <a:off x="3794760" y="4297680"/>
            <a:ext cx="73152" cy="86868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 txBox="1"/>
          <p:nvPr/>
        </p:nvSpPr>
        <p:spPr>
          <a:xfrm>
            <a:off x="3995928" y="4462272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Current slice</a:t>
            </a:r>
            <a:endParaRPr lang="en-US" sz="1500"/>
          </a:p>
        </p:txBody>
      </p:sp>
      <p:sp>
        <p:nvSpPr>
          <p:cNvPr id="13" name="Text"/>
          <p:cNvSpPr txBox="1"/>
          <p:nvPr/>
        </p:nvSpPr>
        <p:spPr>
          <a:xfrm>
            <a:off x="3995928" y="4828032"/>
            <a:ext cx="23591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Native Android app plus FastAPI backend</a:t>
            </a:r>
            <a:endParaRPr lang="en-US" sz="1200"/>
          </a:p>
        </p:txBody>
      </p:sp>
      <p:sp>
        <p:nvSpPr>
          <p:cNvPr id="14" name="Card"/>
          <p:cNvSpPr/>
          <p:nvPr/>
        </p:nvSpPr>
        <p:spPr>
          <a:xfrm>
            <a:off x="6766560" y="4297680"/>
            <a:ext cx="274320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Accent"/>
          <p:cNvSpPr/>
          <p:nvPr/>
        </p:nvSpPr>
        <p:spPr>
          <a:xfrm>
            <a:off x="6766560" y="4297680"/>
            <a:ext cx="73152" cy="868680"/>
          </a:xfrm>
          <a:prstGeom prst="roundRect">
            <a:avLst>
              <a:gd name="adj" fmla="val 9000"/>
            </a:avLst>
          </a:prstGeom>
          <a:solidFill>
            <a:srgbClr val="16653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/>
          <p:cNvSpPr txBox="1"/>
          <p:nvPr/>
        </p:nvSpPr>
        <p:spPr>
          <a:xfrm>
            <a:off x="6967728" y="4462272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Direction</a:t>
            </a:r>
            <a:endParaRPr lang="en-US" sz="1500"/>
          </a:p>
        </p:txBody>
      </p:sp>
      <p:sp>
        <p:nvSpPr>
          <p:cNvPr id="17" name="Text"/>
          <p:cNvSpPr txBox="1"/>
          <p:nvPr/>
        </p:nvSpPr>
        <p:spPr>
          <a:xfrm>
            <a:off x="6967728" y="4828032"/>
            <a:ext cx="23591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Local-first detection with cloud-assisted intelligence</a:t>
            </a:r>
            <a:endParaRPr lang="en-US" sz="1200"/>
          </a:p>
        </p:txBody>
      </p:sp>
      <p:sp>
        <p:nvSpPr>
          <p:cNvPr id="18" name="Text"/>
          <p:cNvSpPr txBox="1"/>
          <p:nvPr/>
        </p:nvSpPr>
        <p:spPr>
          <a:xfrm>
            <a:off x="841248" y="626364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>
                <a:solidFill>
                  <a:srgbClr val="A9B8CA"/>
                </a:solidFill>
                <a:latin typeface="Aptos"/>
              </a:rPr>
              <a:t>Generated 2026-06-16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op Bar"/>
          <p:cNvSpPr/>
          <p:nvPr/>
        </p:nvSpPr>
        <p:spPr>
          <a:xfrm>
            <a:off x="0" y="0"/>
            <a:ext cx="13333333" cy="201168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itle"/>
          <p:cNvSpPr txBox="1"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0B1726"/>
                </a:solidFill>
                <a:latin typeface="Aptos"/>
              </a:rPr>
              <a:t>Executive Summary</a:t>
            </a:r>
            <a:endParaRPr lang="en-US" sz="2800"/>
          </a:p>
        </p:txBody>
      </p:sp>
      <p:sp>
        <p:nvSpPr>
          <p:cNvPr id="21" name="Subtitle"/>
          <p:cNvSpPr txBox="1"/>
          <p:nvPr/>
        </p:nvSpPr>
        <p:spPr>
          <a:xfrm>
            <a:off x="521207" y="868680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What has been developed so far</a:t>
            </a:r>
            <a:endParaRPr lang="en-US" sz="1200"/>
          </a:p>
        </p:txBody>
      </p:sp>
      <p:sp>
        <p:nvSpPr>
          <p:cNvPr id="22" name="Card"/>
          <p:cNvSpPr/>
          <p:nvPr/>
        </p:nvSpPr>
        <p:spPr>
          <a:xfrm>
            <a:off x="594360" y="1325880"/>
            <a:ext cx="338328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Accent"/>
          <p:cNvSpPr/>
          <p:nvPr/>
        </p:nvSpPr>
        <p:spPr>
          <a:xfrm>
            <a:off x="594360" y="1325880"/>
            <a:ext cx="73152" cy="1143000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"/>
          <p:cNvSpPr txBox="1"/>
          <p:nvPr/>
        </p:nvSpPr>
        <p:spPr>
          <a:xfrm>
            <a:off x="795528" y="1490472"/>
            <a:ext cx="29992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Android application</a:t>
            </a:r>
            <a:endParaRPr lang="en-US" sz="1500"/>
          </a:p>
        </p:txBody>
      </p:sp>
      <p:sp>
        <p:nvSpPr>
          <p:cNvPr id="25" name="Text"/>
          <p:cNvSpPr txBox="1"/>
          <p:nvPr/>
        </p:nvSpPr>
        <p:spPr>
          <a:xfrm>
            <a:off x="795528" y="1856231"/>
            <a:ext cx="299923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SentryNet dashboard with scan modes, settings, history, realtime observer, share intake, and privacy shortcuts.</a:t>
            </a:r>
            <a:endParaRPr lang="en-US" sz="1200"/>
          </a:p>
        </p:txBody>
      </p:sp>
      <p:sp>
        <p:nvSpPr>
          <p:cNvPr id="26" name="Card"/>
          <p:cNvSpPr/>
          <p:nvPr/>
        </p:nvSpPr>
        <p:spPr>
          <a:xfrm>
            <a:off x="4389120" y="1325880"/>
            <a:ext cx="338328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Accent"/>
          <p:cNvSpPr/>
          <p:nvPr/>
        </p:nvSpPr>
        <p:spPr>
          <a:xfrm>
            <a:off x="4389120" y="1325880"/>
            <a:ext cx="73152" cy="114300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"/>
          <p:cNvSpPr txBox="1"/>
          <p:nvPr/>
        </p:nvSpPr>
        <p:spPr>
          <a:xfrm>
            <a:off x="4590288" y="1490472"/>
            <a:ext cx="29992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Backend service</a:t>
            </a:r>
            <a:endParaRPr lang="en-US" sz="1500"/>
          </a:p>
        </p:txBody>
      </p:sp>
      <p:sp>
        <p:nvSpPr>
          <p:cNvPr id="29" name="Text"/>
          <p:cNvSpPr txBox="1"/>
          <p:nvPr/>
        </p:nvSpPr>
        <p:spPr>
          <a:xfrm>
            <a:off x="4590288" y="1856231"/>
            <a:ext cx="299923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FastAPI service for permissions, messages, URLs, sensitive data, malware indicators, content safety, download guard, and agent Q&amp;A.</a:t>
            </a:r>
            <a:endParaRPr lang="en-US" sz="1200"/>
          </a:p>
        </p:txBody>
      </p:sp>
      <p:sp>
        <p:nvSpPr>
          <p:cNvPr id="30" name="Card"/>
          <p:cNvSpPr/>
          <p:nvPr/>
        </p:nvSpPr>
        <p:spPr>
          <a:xfrm>
            <a:off x="8183879" y="1325880"/>
            <a:ext cx="338328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Accent"/>
          <p:cNvSpPr/>
          <p:nvPr/>
        </p:nvSpPr>
        <p:spPr>
          <a:xfrm>
            <a:off x="8183879" y="1325880"/>
            <a:ext cx="73152" cy="1143000"/>
          </a:xfrm>
          <a:prstGeom prst="roundRect">
            <a:avLst>
              <a:gd name="adj" fmla="val 9000"/>
            </a:avLst>
          </a:prstGeom>
          <a:solidFill>
            <a:srgbClr val="16653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"/>
          <p:cNvSpPr txBox="1"/>
          <p:nvPr/>
        </p:nvSpPr>
        <p:spPr>
          <a:xfrm>
            <a:off x="8385048" y="1490472"/>
            <a:ext cx="29992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Security foundation</a:t>
            </a:r>
            <a:endParaRPr lang="en-US" sz="1500"/>
          </a:p>
        </p:txBody>
      </p:sp>
      <p:sp>
        <p:nvSpPr>
          <p:cNvPr id="33" name="Text"/>
          <p:cNvSpPr txBox="1"/>
          <p:nvPr/>
        </p:nvSpPr>
        <p:spPr>
          <a:xfrm>
            <a:off x="8385048" y="1856231"/>
            <a:ext cx="299923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Consent-first API guardrails, scoped API keys, rate limiting, redacted audit logging, and zero raw artifact retention posture.</a:t>
            </a:r>
            <a:endParaRPr lang="en-US" sz="1200"/>
          </a:p>
        </p:txBody>
      </p:sp>
      <p:sp>
        <p:nvSpPr>
          <p:cNvPr id="34" name="Bullets"/>
          <p:cNvSpPr txBox="1"/>
          <p:nvPr/>
        </p:nvSpPr>
        <p:spPr>
          <a:xfrm>
            <a:off x="685800" y="2971800"/>
            <a:ext cx="1088136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Font typeface="Aptos"/>
              <a:buChar char="•"/>
            </a:pPr>
            <a:r>
              <a:rPr lang="en-US" sz="1800">
                <a:solidFill>
                  <a:srgbClr val="0B1726"/>
                </a:solidFill>
                <a:latin typeface="Aptos"/>
              </a:rPr>
              <a:t>The application is designed as a privacy-first mobile security assistant for Android users.</a:t>
            </a:r>
            <a:endParaRPr lang="en-US" sz="1800"/>
          </a:p>
          <a:p>
            <a:pPr marL="285750" indent="-171450">
              <a:buFont typeface="Aptos"/>
              <a:buChar char="•"/>
            </a:pPr>
            <a:r>
              <a:rPr lang="en-US" sz="1800">
                <a:solidFill>
                  <a:srgbClr val="0B1726"/>
                </a:solidFill>
                <a:latin typeface="Aptos"/>
              </a:rPr>
              <a:t>Current implementation combines local Android scans with a cloud-ready analysis API.</a:t>
            </a:r>
            <a:endParaRPr lang="en-US" sz="1800"/>
          </a:p>
          <a:p>
            <a:pPr marL="285750" indent="-171450">
              <a:buFont typeface="Aptos"/>
              <a:buChar char="•"/>
            </a:pPr>
            <a:r>
              <a:rPr lang="en-US" sz="1800">
                <a:solidFill>
                  <a:srgbClr val="0B1726"/>
                </a:solidFill>
                <a:latin typeface="Aptos"/>
              </a:rPr>
              <a:t>Detection coverage includes app permissions, suspicious messages, phishing URLs, sensitive data, malware indicators, harmful content labels, and download decisions.</a:t>
            </a:r>
            <a:endParaRPr lang="en-US" sz="1800"/>
          </a:p>
          <a:p>
            <a:pPr marL="285750" indent="-171450">
              <a:buFont typeface="Aptos"/>
              <a:buChar char="•"/>
            </a:pPr>
            <a:r>
              <a:rPr lang="en-US" sz="1800">
                <a:solidFill>
                  <a:srgbClr val="0B1726"/>
                </a:solidFill>
                <a:latin typeface="Aptos"/>
              </a:rPr>
              <a:t>The architecture is intentionally modular so the first FastAPI process can later split into dedicated services.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op Bar"/>
          <p:cNvSpPr/>
          <p:nvPr/>
        </p:nvSpPr>
        <p:spPr>
          <a:xfrm>
            <a:off x="0" y="0"/>
            <a:ext cx="13333333" cy="201168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itle"/>
          <p:cNvSpPr txBox="1"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0B1726"/>
                </a:solidFill>
                <a:latin typeface="Aptos"/>
              </a:rPr>
              <a:t>Application Purpose</a:t>
            </a:r>
            <a:endParaRPr lang="en-US" sz="2800"/>
          </a:p>
        </p:txBody>
      </p:sp>
      <p:sp>
        <p:nvSpPr>
          <p:cNvPr id="37" name="Subtitle"/>
          <p:cNvSpPr txBox="1"/>
          <p:nvPr/>
        </p:nvSpPr>
        <p:spPr>
          <a:xfrm>
            <a:off x="521207" y="868680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Why the product exists</a:t>
            </a:r>
            <a:endParaRPr lang="en-US" sz="1200"/>
          </a:p>
        </p:txBody>
      </p:sp>
      <p:sp>
        <p:nvSpPr>
          <p:cNvPr id="38" name="Text"/>
          <p:cNvSpPr txBox="1"/>
          <p:nvPr/>
        </p:nvSpPr>
        <p:spPr>
          <a:xfrm>
            <a:off x="685800" y="1353312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b="1">
                <a:solidFill>
                  <a:srgbClr val="0B1726"/>
                </a:solidFill>
                <a:latin typeface="Aptos"/>
              </a:rPr>
              <a:t>SentryNet helps Android users identify privacy and security risks before those risks become account compromise, fraud, or sensitive data exposure.</a:t>
            </a:r>
            <a:endParaRPr lang="en-US" sz="2200"/>
          </a:p>
        </p:txBody>
      </p:sp>
      <p:sp>
        <p:nvSpPr>
          <p:cNvPr id="39" name="Card"/>
          <p:cNvSpPr/>
          <p:nvPr/>
        </p:nvSpPr>
        <p:spPr>
          <a:xfrm>
            <a:off x="731520" y="2331720"/>
            <a:ext cx="324612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Accent"/>
          <p:cNvSpPr/>
          <p:nvPr/>
        </p:nvSpPr>
        <p:spPr>
          <a:xfrm>
            <a:off x="731520" y="2331720"/>
            <a:ext cx="73152" cy="1097280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"/>
          <p:cNvSpPr txBox="1"/>
          <p:nvPr/>
        </p:nvSpPr>
        <p:spPr>
          <a:xfrm>
            <a:off x="932688" y="2496312"/>
            <a:ext cx="28620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Privacy risks</a:t>
            </a:r>
            <a:endParaRPr lang="en-US" sz="1500"/>
          </a:p>
        </p:txBody>
      </p:sp>
      <p:sp>
        <p:nvSpPr>
          <p:cNvPr id="42" name="Text"/>
          <p:cNvSpPr txBox="1"/>
          <p:nvPr/>
        </p:nvSpPr>
        <p:spPr>
          <a:xfrm>
            <a:off x="932688" y="2862072"/>
            <a:ext cx="28620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Risky permissions, camera access, overlays, accessibility abuse, notification access, and unknown installers.</a:t>
            </a:r>
            <a:endParaRPr lang="en-US" sz="1200"/>
          </a:p>
        </p:txBody>
      </p:sp>
      <p:sp>
        <p:nvSpPr>
          <p:cNvPr id="43" name="Card"/>
          <p:cNvSpPr/>
          <p:nvPr/>
        </p:nvSpPr>
        <p:spPr>
          <a:xfrm>
            <a:off x="4434840" y="2331720"/>
            <a:ext cx="324612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Accent"/>
          <p:cNvSpPr/>
          <p:nvPr/>
        </p:nvSpPr>
        <p:spPr>
          <a:xfrm>
            <a:off x="4434840" y="2331720"/>
            <a:ext cx="73152" cy="1097280"/>
          </a:xfrm>
          <a:prstGeom prst="roundRect">
            <a:avLst>
              <a:gd name="adj" fmla="val 9000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"/>
          <p:cNvSpPr txBox="1"/>
          <p:nvPr/>
        </p:nvSpPr>
        <p:spPr>
          <a:xfrm>
            <a:off x="4636007" y="2496312"/>
            <a:ext cx="28620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Fraud and phishing</a:t>
            </a:r>
            <a:endParaRPr lang="en-US" sz="1500"/>
          </a:p>
        </p:txBody>
      </p:sp>
      <p:sp>
        <p:nvSpPr>
          <p:cNvPr id="46" name="Text"/>
          <p:cNvSpPr txBox="1"/>
          <p:nvPr/>
        </p:nvSpPr>
        <p:spPr>
          <a:xfrm>
            <a:off x="4636007" y="2862072"/>
            <a:ext cx="28620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KYC/OTP scams, suspicious messages, QR/deep links, typosquatting, unsafe transport, and malicious domains.</a:t>
            </a:r>
            <a:endParaRPr lang="en-US" sz="1200"/>
          </a:p>
        </p:txBody>
      </p:sp>
      <p:sp>
        <p:nvSpPr>
          <p:cNvPr id="47" name="Card"/>
          <p:cNvSpPr/>
          <p:nvPr/>
        </p:nvSpPr>
        <p:spPr>
          <a:xfrm>
            <a:off x="8138160" y="2331720"/>
            <a:ext cx="324612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Accent"/>
          <p:cNvSpPr/>
          <p:nvPr/>
        </p:nvSpPr>
        <p:spPr>
          <a:xfrm>
            <a:off x="8138160" y="2331720"/>
            <a:ext cx="73152" cy="1097280"/>
          </a:xfrm>
          <a:prstGeom prst="roundRect">
            <a:avLst>
              <a:gd name="adj" fmla="val 9000"/>
            </a:avLst>
          </a:prstGeom>
          <a:solidFill>
            <a:srgbClr val="B91C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"/>
          <p:cNvSpPr txBox="1"/>
          <p:nvPr/>
        </p:nvSpPr>
        <p:spPr>
          <a:xfrm>
            <a:off x="8339328" y="2496312"/>
            <a:ext cx="28620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Sensitive content</a:t>
            </a:r>
            <a:endParaRPr lang="en-US" sz="1500"/>
          </a:p>
        </p:txBody>
      </p:sp>
      <p:sp>
        <p:nvSpPr>
          <p:cNvPr id="50" name="Text"/>
          <p:cNvSpPr txBox="1"/>
          <p:nvPr/>
        </p:nvSpPr>
        <p:spPr>
          <a:xfrm>
            <a:off x="8339328" y="2862072"/>
            <a:ext cx="28620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PAN, Aadhaar-like IDs, payment cards, tokens, recovery phrases, wallet addresses, and adult media labels.</a:t>
            </a:r>
            <a:endParaRPr lang="en-US" sz="1200"/>
          </a:p>
        </p:txBody>
      </p:sp>
      <p:sp>
        <p:nvSpPr>
          <p:cNvPr id="51" name="Bullets"/>
          <p:cNvSpPr txBox="1"/>
          <p:nvPr/>
        </p:nvSpPr>
        <p:spPr>
          <a:xfrm>
            <a:off x="868680" y="4005072"/>
            <a:ext cx="1014984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Core principle: analyze locally first and send minimized cloud payloads only with explicit consent.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Outputs are explainable: scores include findings, evidence, and recommended actions.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The product competes on trust, not only detection breadth.</a:t>
            </a:r>
            <a:endParaRPr lang="en-US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op Bar"/>
          <p:cNvSpPr/>
          <p:nvPr/>
        </p:nvSpPr>
        <p:spPr>
          <a:xfrm>
            <a:off x="0" y="0"/>
            <a:ext cx="13333333" cy="201168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itle"/>
          <p:cNvSpPr txBox="1"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0B1726"/>
                </a:solidFill>
                <a:latin typeface="Aptos"/>
              </a:rPr>
              <a:t>Current Android App</a:t>
            </a:r>
            <a:endParaRPr lang="en-US" sz="2800"/>
          </a:p>
        </p:txBody>
      </p:sp>
      <p:sp>
        <p:nvSpPr>
          <p:cNvPr id="54" name="Subtitle"/>
          <p:cNvSpPr txBox="1"/>
          <p:nvPr/>
        </p:nvSpPr>
        <p:spPr>
          <a:xfrm>
            <a:off x="521207" y="868680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Implemented mobile-side capabilities</a:t>
            </a:r>
            <a:endParaRPr lang="en-US" sz="1200"/>
          </a:p>
        </p:txBody>
      </p:sp>
      <p:sp>
        <p:nvSpPr>
          <p:cNvPr id="55" name="Bullets"/>
          <p:cNvSpPr txBox="1"/>
          <p:nvPr/>
        </p:nvSpPr>
        <p:spPr>
          <a:xfrm>
            <a:off x="731520" y="1353312"/>
            <a:ext cx="516636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Native Android app scaffold installed as Privacy Guardian / SentryNet.</a:t>
            </a:r>
            <a:endParaRPr lang="en-US" sz="1600"/>
          </a:p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Dashboard UI with demo scan modes and agent-style recommendations.</a:t>
            </a:r>
            <a:endParaRPr lang="en-US" sz="1600"/>
          </a:p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Camera permission audit across installed apps.</a:t>
            </a:r>
            <a:endParaRPr lang="en-US" sz="1600"/>
          </a:p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Risk scoring for camera plus microphone, SMS, location, overlays, accessibility, and unknown APK install signals.</a:t>
            </a:r>
            <a:endParaRPr lang="en-US" sz="1600"/>
          </a:p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Settings for backend URL, sensitivity, video frame sampling, retention days, realtime monitoring, content safety, download blocking, and parental/admin mode.</a:t>
            </a:r>
            <a:endParaRPr lang="en-US" sz="1600"/>
          </a:p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Local scan history and shared text capture.</a:t>
            </a:r>
            <a:endParaRPr lang="en-US" sz="1600"/>
          </a:p>
        </p:txBody>
      </p:sp>
      <p:sp>
        <p:nvSpPr>
          <p:cNvPr id="56" name="Card"/>
          <p:cNvSpPr/>
          <p:nvPr/>
        </p:nvSpPr>
        <p:spPr>
          <a:xfrm>
            <a:off x="6400800" y="141732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Accent"/>
          <p:cNvSpPr/>
          <p:nvPr/>
        </p:nvSpPr>
        <p:spPr>
          <a:xfrm>
            <a:off x="6400800" y="1417320"/>
            <a:ext cx="73152" cy="91440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"/>
          <p:cNvSpPr txBox="1"/>
          <p:nvPr/>
        </p:nvSpPr>
        <p:spPr>
          <a:xfrm>
            <a:off x="6601968" y="1581912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Realtime</a:t>
            </a:r>
            <a:endParaRPr lang="en-US" sz="1500"/>
          </a:p>
        </p:txBody>
      </p:sp>
      <p:sp>
        <p:nvSpPr>
          <p:cNvPr id="59" name="Text"/>
          <p:cNvSpPr txBox="1"/>
          <p:nvPr/>
        </p:nvSpPr>
        <p:spPr>
          <a:xfrm>
            <a:off x="6601968" y="1947672"/>
            <a:ext cx="19476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MediaStore observer records new image/video activity when enabled.</a:t>
            </a:r>
            <a:endParaRPr lang="en-US" sz="1200"/>
          </a:p>
        </p:txBody>
      </p:sp>
      <p:sp>
        <p:nvSpPr>
          <p:cNvPr id="60" name="Card"/>
          <p:cNvSpPr/>
          <p:nvPr/>
        </p:nvSpPr>
        <p:spPr>
          <a:xfrm>
            <a:off x="9006840" y="141732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Accent"/>
          <p:cNvSpPr/>
          <p:nvPr/>
        </p:nvSpPr>
        <p:spPr>
          <a:xfrm>
            <a:off x="9006840" y="1417320"/>
            <a:ext cx="73152" cy="914400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"/>
          <p:cNvSpPr txBox="1"/>
          <p:nvPr/>
        </p:nvSpPr>
        <p:spPr>
          <a:xfrm>
            <a:off x="9208008" y="1581912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Privacy settings</a:t>
            </a:r>
            <a:endParaRPr lang="en-US" sz="1500"/>
          </a:p>
        </p:txBody>
      </p:sp>
      <p:sp>
        <p:nvSpPr>
          <p:cNvPr id="63" name="Text"/>
          <p:cNvSpPr txBox="1"/>
          <p:nvPr/>
        </p:nvSpPr>
        <p:spPr>
          <a:xfrm>
            <a:off x="9208008" y="1947672"/>
            <a:ext cx="19476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Shortcuts into Android notification and privacy controls.</a:t>
            </a:r>
            <a:endParaRPr lang="en-US" sz="1200"/>
          </a:p>
        </p:txBody>
      </p:sp>
      <p:sp>
        <p:nvSpPr>
          <p:cNvPr id="64" name="Card"/>
          <p:cNvSpPr/>
          <p:nvPr/>
        </p:nvSpPr>
        <p:spPr>
          <a:xfrm>
            <a:off x="6400800" y="278892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Accent"/>
          <p:cNvSpPr/>
          <p:nvPr/>
        </p:nvSpPr>
        <p:spPr>
          <a:xfrm>
            <a:off x="6400800" y="2788920"/>
            <a:ext cx="73152" cy="914400"/>
          </a:xfrm>
          <a:prstGeom prst="roundRect">
            <a:avLst>
              <a:gd name="adj" fmla="val 9000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"/>
          <p:cNvSpPr txBox="1"/>
          <p:nvPr/>
        </p:nvSpPr>
        <p:spPr>
          <a:xfrm>
            <a:off x="6601968" y="2953512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Share intake</a:t>
            </a:r>
            <a:endParaRPr lang="en-US" sz="1500"/>
          </a:p>
        </p:txBody>
      </p:sp>
      <p:sp>
        <p:nvSpPr>
          <p:cNvPr id="67" name="Text"/>
          <p:cNvSpPr txBox="1"/>
          <p:nvPr/>
        </p:nvSpPr>
        <p:spPr>
          <a:xfrm>
            <a:off x="6601968" y="3319272"/>
            <a:ext cx="19476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Shared text is captured into history for later review.</a:t>
            </a:r>
            <a:endParaRPr lang="en-US" sz="1200"/>
          </a:p>
        </p:txBody>
      </p:sp>
      <p:sp>
        <p:nvSpPr>
          <p:cNvPr id="68" name="Card"/>
          <p:cNvSpPr/>
          <p:nvPr/>
        </p:nvSpPr>
        <p:spPr>
          <a:xfrm>
            <a:off x="9006840" y="278892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Accent"/>
          <p:cNvSpPr/>
          <p:nvPr/>
        </p:nvSpPr>
        <p:spPr>
          <a:xfrm>
            <a:off x="9006840" y="2788920"/>
            <a:ext cx="73152" cy="914400"/>
          </a:xfrm>
          <a:prstGeom prst="roundRect">
            <a:avLst>
              <a:gd name="adj" fmla="val 9000"/>
            </a:avLst>
          </a:prstGeom>
          <a:solidFill>
            <a:srgbClr val="16653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"/>
          <p:cNvSpPr txBox="1"/>
          <p:nvPr/>
        </p:nvSpPr>
        <p:spPr>
          <a:xfrm>
            <a:off x="9208008" y="2953512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Optional sync</a:t>
            </a:r>
            <a:endParaRPr lang="en-US" sz="1500"/>
          </a:p>
        </p:txBody>
      </p:sp>
      <p:sp>
        <p:nvSpPr>
          <p:cNvPr id="71" name="Text"/>
          <p:cNvSpPr txBox="1"/>
          <p:nvPr/>
        </p:nvSpPr>
        <p:spPr>
          <a:xfrm>
            <a:off x="9208008" y="3319272"/>
            <a:ext cx="19476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Best-effort backend audit push when configured.</a:t>
            </a:r>
            <a:endParaRPr lang="en-US" sz="1200"/>
          </a:p>
        </p:txBody>
      </p:sp>
      <p:sp>
        <p:nvSpPr>
          <p:cNvPr id="72" name="Text"/>
          <p:cNvSpPr txBox="1"/>
          <p:nvPr/>
        </p:nvSpPr>
        <p:spPr>
          <a:xfrm>
            <a:off x="6537960" y="457200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>
                <a:solidFill>
                  <a:srgbClr val="516174"/>
                </a:solidFill>
                <a:latin typeface="Aptos"/>
              </a:rPr>
              <a:t>Android limitation: normal apps cannot reliably detect every app using the camera at the exact current moment. The app therefore audits camera permission and guides users to Android Privacy Dashboard for live/recent access.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op Bar"/>
          <p:cNvSpPr/>
          <p:nvPr/>
        </p:nvSpPr>
        <p:spPr>
          <a:xfrm>
            <a:off x="0" y="0"/>
            <a:ext cx="13333333" cy="201168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Title"/>
          <p:cNvSpPr txBox="1"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0B1726"/>
                </a:solidFill>
                <a:latin typeface="Aptos"/>
              </a:rPr>
              <a:t>Current Backend</a:t>
            </a:r>
            <a:endParaRPr lang="en-US" sz="2800"/>
          </a:p>
        </p:txBody>
      </p:sp>
      <p:sp>
        <p:nvSpPr>
          <p:cNvPr id="75" name="Subtitle"/>
          <p:cNvSpPr txBox="1"/>
          <p:nvPr/>
        </p:nvSpPr>
        <p:spPr>
          <a:xfrm>
            <a:off x="521207" y="868680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Implemented cloud/API-side capabilities</a:t>
            </a:r>
            <a:endParaRPr lang="en-US" sz="1200"/>
          </a:p>
        </p:txBody>
      </p:sp>
      <p:sp>
        <p:nvSpPr>
          <p:cNvPr id="76" name="Card"/>
          <p:cNvSpPr/>
          <p:nvPr/>
        </p:nvSpPr>
        <p:spPr>
          <a:xfrm>
            <a:off x="640080" y="1298448"/>
            <a:ext cx="34747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Accent"/>
          <p:cNvSpPr/>
          <p:nvPr/>
        </p:nvSpPr>
        <p:spPr>
          <a:xfrm>
            <a:off x="640080" y="1298448"/>
            <a:ext cx="73152" cy="91440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"/>
          <p:cNvSpPr txBox="1"/>
          <p:nvPr/>
        </p:nvSpPr>
        <p:spPr>
          <a:xfrm>
            <a:off x="841247" y="1463039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Analysis API</a:t>
            </a:r>
            <a:endParaRPr lang="en-US" sz="1500"/>
          </a:p>
        </p:txBody>
      </p:sp>
      <p:sp>
        <p:nvSpPr>
          <p:cNvPr id="79" name="Text"/>
          <p:cNvSpPr txBox="1"/>
          <p:nvPr/>
        </p:nvSpPr>
        <p:spPr>
          <a:xfrm>
            <a:off x="841247" y="1828800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FastAPI routes under /api/v1 with consent and rate-limit dependencies.</a:t>
            </a:r>
            <a:endParaRPr lang="en-US" sz="1200"/>
          </a:p>
        </p:txBody>
      </p:sp>
      <p:sp>
        <p:nvSpPr>
          <p:cNvPr id="80" name="Card"/>
          <p:cNvSpPr/>
          <p:nvPr/>
        </p:nvSpPr>
        <p:spPr>
          <a:xfrm>
            <a:off x="4389120" y="1298448"/>
            <a:ext cx="34747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Accent"/>
          <p:cNvSpPr/>
          <p:nvPr/>
        </p:nvSpPr>
        <p:spPr>
          <a:xfrm>
            <a:off x="4389120" y="1298448"/>
            <a:ext cx="73152" cy="914400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"/>
          <p:cNvSpPr txBox="1"/>
          <p:nvPr/>
        </p:nvSpPr>
        <p:spPr>
          <a:xfrm>
            <a:off x="4590288" y="1463039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Detection engines</a:t>
            </a:r>
            <a:endParaRPr lang="en-US" sz="1500"/>
          </a:p>
        </p:txBody>
      </p:sp>
      <p:sp>
        <p:nvSpPr>
          <p:cNvPr id="83" name="Text"/>
          <p:cNvSpPr txBox="1"/>
          <p:nvPr/>
        </p:nvSpPr>
        <p:spPr>
          <a:xfrm>
            <a:off x="4590288" y="1828800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Deterministic services for permission, fraud, phishing, PII, malware, content safety, and download guard.</a:t>
            </a:r>
            <a:endParaRPr lang="en-US" sz="1200"/>
          </a:p>
        </p:txBody>
      </p:sp>
      <p:sp>
        <p:nvSpPr>
          <p:cNvPr id="84" name="Card"/>
          <p:cNvSpPr/>
          <p:nvPr/>
        </p:nvSpPr>
        <p:spPr>
          <a:xfrm>
            <a:off x="8138160" y="1298448"/>
            <a:ext cx="34747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Accent"/>
          <p:cNvSpPr/>
          <p:nvPr/>
        </p:nvSpPr>
        <p:spPr>
          <a:xfrm>
            <a:off x="8138160" y="1298448"/>
            <a:ext cx="73152" cy="914400"/>
          </a:xfrm>
          <a:prstGeom prst="roundRect">
            <a:avLst>
              <a:gd name="adj" fmla="val 9000"/>
            </a:avLst>
          </a:prstGeom>
          <a:solidFill>
            <a:srgbClr val="16653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"/>
          <p:cNvSpPr txBox="1"/>
          <p:nvPr/>
        </p:nvSpPr>
        <p:spPr>
          <a:xfrm>
            <a:off x="8339328" y="1463039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Agent Q&amp;A</a:t>
            </a:r>
            <a:endParaRPr lang="en-US" sz="1500"/>
          </a:p>
        </p:txBody>
      </p:sp>
      <p:sp>
        <p:nvSpPr>
          <p:cNvPr id="87" name="Text"/>
          <p:cNvSpPr txBox="1"/>
          <p:nvPr/>
        </p:nvSpPr>
        <p:spPr>
          <a:xfrm>
            <a:off x="8339328" y="1828800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LangGraph-ready workflow for security questions and evidence-backed recommendations.</a:t>
            </a:r>
            <a:endParaRPr lang="en-US" sz="1200"/>
          </a:p>
        </p:txBody>
      </p:sp>
      <p:sp>
        <p:nvSpPr>
          <p:cNvPr id="88" name="Bullets"/>
          <p:cNvSpPr txBox="1"/>
          <p:nvPr/>
        </p:nvSpPr>
        <p:spPr>
          <a:xfrm>
            <a:off x="777240" y="2788920"/>
            <a:ext cx="1046988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Endpoints: /analysis/permissions, /analysis/messages, /analysis/urls, /analysis/sensitive-data, /analysis/malware, /analysis/content-safety, /analysis/download-guard.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Privacy controls endpoint reports runtime posture: consent requirement, retention, external AI status, and active guarantees.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Audit logger writes privacy-safe, redacted, pseudonymous, tamper-evident action lines.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Docker, Kubernetes manifests, Prometheus rules, CI workflow, tests, threat model, and hardening documents are present.</a:t>
            </a:r>
            <a:endParaRPr lang="en-US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op Bar"/>
          <p:cNvSpPr/>
          <p:nvPr/>
        </p:nvSpPr>
        <p:spPr>
          <a:xfrm>
            <a:off x="0" y="0"/>
            <a:ext cx="13333333" cy="201168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Title"/>
          <p:cNvSpPr txBox="1"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0B1726"/>
                </a:solidFill>
                <a:latin typeface="Aptos"/>
              </a:rPr>
              <a:t>Technologies Used</a:t>
            </a:r>
            <a:endParaRPr lang="en-US" sz="2800"/>
          </a:p>
        </p:txBody>
      </p:sp>
      <p:sp>
        <p:nvSpPr>
          <p:cNvPr id="91" name="Subtitle"/>
          <p:cNvSpPr txBox="1"/>
          <p:nvPr/>
        </p:nvSpPr>
        <p:spPr>
          <a:xfrm>
            <a:off x="521207" y="868680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Current stack and platform choices</a:t>
            </a:r>
            <a:endParaRPr lang="en-US" sz="1200"/>
          </a:p>
        </p:txBody>
      </p:sp>
      <p:sp>
        <p:nvSpPr>
          <p:cNvPr id="92" name="Card"/>
          <p:cNvSpPr/>
          <p:nvPr/>
        </p:nvSpPr>
        <p:spPr>
          <a:xfrm>
            <a:off x="640080" y="1234440"/>
            <a:ext cx="246888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3" name="Accent"/>
          <p:cNvSpPr/>
          <p:nvPr/>
        </p:nvSpPr>
        <p:spPr>
          <a:xfrm>
            <a:off x="640080" y="1234440"/>
            <a:ext cx="73152" cy="1024128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"/>
          <p:cNvSpPr txBox="1"/>
          <p:nvPr/>
        </p:nvSpPr>
        <p:spPr>
          <a:xfrm>
            <a:off x="841247" y="1399032"/>
            <a:ext cx="20848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Mobile</a:t>
            </a:r>
            <a:endParaRPr lang="en-US" sz="1500"/>
          </a:p>
        </p:txBody>
      </p:sp>
      <p:sp>
        <p:nvSpPr>
          <p:cNvPr id="95" name="Text"/>
          <p:cNvSpPr txBox="1"/>
          <p:nvPr/>
        </p:nvSpPr>
        <p:spPr>
          <a:xfrm>
            <a:off x="841247" y="1764792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Native Android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Java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SDK 35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Min SDK 26</a:t>
            </a:r>
            <a:endParaRPr lang="en-US" sz="1200"/>
          </a:p>
        </p:txBody>
      </p:sp>
      <p:sp>
        <p:nvSpPr>
          <p:cNvPr id="96" name="Card"/>
          <p:cNvSpPr/>
          <p:nvPr/>
        </p:nvSpPr>
        <p:spPr>
          <a:xfrm>
            <a:off x="3429000" y="1234440"/>
            <a:ext cx="246888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7" name="Accent"/>
          <p:cNvSpPr/>
          <p:nvPr/>
        </p:nvSpPr>
        <p:spPr>
          <a:xfrm>
            <a:off x="3429000" y="1234440"/>
            <a:ext cx="73152" cy="1024128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"/>
          <p:cNvSpPr txBox="1"/>
          <p:nvPr/>
        </p:nvSpPr>
        <p:spPr>
          <a:xfrm>
            <a:off x="3630168" y="1399032"/>
            <a:ext cx="20848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API</a:t>
            </a:r>
            <a:endParaRPr lang="en-US" sz="1500"/>
          </a:p>
        </p:txBody>
      </p:sp>
      <p:sp>
        <p:nvSpPr>
          <p:cNvPr id="99" name="Text"/>
          <p:cNvSpPr txBox="1"/>
          <p:nvPr/>
        </p:nvSpPr>
        <p:spPr>
          <a:xfrm>
            <a:off x="3630168" y="1764792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Python 3.13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FastAPI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Uvicorn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Pydantic v2</a:t>
            </a:r>
            <a:endParaRPr lang="en-US" sz="1200"/>
          </a:p>
        </p:txBody>
      </p:sp>
      <p:sp>
        <p:nvSpPr>
          <p:cNvPr id="100" name="Card"/>
          <p:cNvSpPr/>
          <p:nvPr/>
        </p:nvSpPr>
        <p:spPr>
          <a:xfrm>
            <a:off x="6217920" y="1234440"/>
            <a:ext cx="246888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Accent"/>
          <p:cNvSpPr/>
          <p:nvPr/>
        </p:nvSpPr>
        <p:spPr>
          <a:xfrm>
            <a:off x="6217920" y="1234440"/>
            <a:ext cx="73152" cy="1024128"/>
          </a:xfrm>
          <a:prstGeom prst="roundRect">
            <a:avLst>
              <a:gd name="adj" fmla="val 9000"/>
            </a:avLst>
          </a:prstGeom>
          <a:solidFill>
            <a:srgbClr val="16653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"/>
          <p:cNvSpPr txBox="1"/>
          <p:nvPr/>
        </p:nvSpPr>
        <p:spPr>
          <a:xfrm>
            <a:off x="6419088" y="1399032"/>
            <a:ext cx="20848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Data</a:t>
            </a:r>
            <a:endParaRPr lang="en-US" sz="1500"/>
          </a:p>
        </p:txBody>
      </p:sp>
      <p:sp>
        <p:nvSpPr>
          <p:cNvPr id="103" name="Text"/>
          <p:cNvSpPr txBox="1"/>
          <p:nvPr/>
        </p:nvSpPr>
        <p:spPr>
          <a:xfrm>
            <a:off x="6419088" y="1764792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SQLAlchemy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SQLite local/dev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PostgreSQL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pgvector target</a:t>
            </a:r>
            <a:endParaRPr lang="en-US" sz="1200"/>
          </a:p>
        </p:txBody>
      </p:sp>
      <p:sp>
        <p:nvSpPr>
          <p:cNvPr id="104" name="Card"/>
          <p:cNvSpPr/>
          <p:nvPr/>
        </p:nvSpPr>
        <p:spPr>
          <a:xfrm>
            <a:off x="9006840" y="1234440"/>
            <a:ext cx="246888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Accent"/>
          <p:cNvSpPr/>
          <p:nvPr/>
        </p:nvSpPr>
        <p:spPr>
          <a:xfrm>
            <a:off x="9006840" y="1234440"/>
            <a:ext cx="73152" cy="1024128"/>
          </a:xfrm>
          <a:prstGeom prst="roundRect">
            <a:avLst>
              <a:gd name="adj" fmla="val 9000"/>
            </a:avLst>
          </a:prstGeom>
          <a:solidFill>
            <a:srgbClr val="B91C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"/>
          <p:cNvSpPr txBox="1"/>
          <p:nvPr/>
        </p:nvSpPr>
        <p:spPr>
          <a:xfrm>
            <a:off x="9208008" y="1399032"/>
            <a:ext cx="20848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Security</a:t>
            </a:r>
            <a:endParaRPr lang="en-US" sz="1500"/>
          </a:p>
        </p:txBody>
      </p:sp>
      <p:sp>
        <p:nvSpPr>
          <p:cNvPr id="107" name="Text"/>
          <p:cNvSpPr txBox="1"/>
          <p:nvPr/>
        </p:nvSpPr>
        <p:spPr>
          <a:xfrm>
            <a:off x="9208008" y="1764792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API keys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Scoped auth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Consent headers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Rate limiting</a:t>
            </a:r>
            <a:endParaRPr lang="en-US" sz="1200"/>
          </a:p>
        </p:txBody>
      </p:sp>
      <p:sp>
        <p:nvSpPr>
          <p:cNvPr id="108" name="Card"/>
          <p:cNvSpPr/>
          <p:nvPr/>
        </p:nvSpPr>
        <p:spPr>
          <a:xfrm>
            <a:off x="640080" y="2880360"/>
            <a:ext cx="246888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Accent"/>
          <p:cNvSpPr/>
          <p:nvPr/>
        </p:nvSpPr>
        <p:spPr>
          <a:xfrm>
            <a:off x="640080" y="2880360"/>
            <a:ext cx="73152" cy="1024128"/>
          </a:xfrm>
          <a:prstGeom prst="roundRect">
            <a:avLst>
              <a:gd name="adj" fmla="val 9000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"/>
          <p:cNvSpPr txBox="1"/>
          <p:nvPr/>
        </p:nvSpPr>
        <p:spPr>
          <a:xfrm>
            <a:off x="841247" y="3044952"/>
            <a:ext cx="20848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AI/Agent</a:t>
            </a:r>
            <a:endParaRPr lang="en-US" sz="1500"/>
          </a:p>
        </p:txBody>
      </p:sp>
      <p:sp>
        <p:nvSpPr>
          <p:cNvPr id="111" name="Text"/>
          <p:cNvSpPr txBox="1"/>
          <p:nvPr/>
        </p:nvSpPr>
        <p:spPr>
          <a:xfrm>
            <a:off x="841247" y="3410712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LangChain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LangGraph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Tool workflow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Redaction rules</a:t>
            </a:r>
            <a:endParaRPr lang="en-US" sz="1200"/>
          </a:p>
        </p:txBody>
      </p:sp>
      <p:sp>
        <p:nvSpPr>
          <p:cNvPr id="112" name="Card"/>
          <p:cNvSpPr/>
          <p:nvPr/>
        </p:nvSpPr>
        <p:spPr>
          <a:xfrm>
            <a:off x="3429000" y="2880360"/>
            <a:ext cx="246888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Accent"/>
          <p:cNvSpPr/>
          <p:nvPr/>
        </p:nvSpPr>
        <p:spPr>
          <a:xfrm>
            <a:off x="3429000" y="2880360"/>
            <a:ext cx="73152" cy="1024128"/>
          </a:xfrm>
          <a:prstGeom prst="roundRect">
            <a:avLst>
              <a:gd name="adj" fmla="val 9000"/>
            </a:avLst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"/>
          <p:cNvSpPr txBox="1"/>
          <p:nvPr/>
        </p:nvSpPr>
        <p:spPr>
          <a:xfrm>
            <a:off x="3630168" y="3044952"/>
            <a:ext cx="20848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Infra</a:t>
            </a:r>
            <a:endParaRPr lang="en-US" sz="1500"/>
          </a:p>
        </p:txBody>
      </p:sp>
      <p:sp>
        <p:nvSpPr>
          <p:cNvPr id="115" name="Text"/>
          <p:cNvSpPr txBox="1"/>
          <p:nvPr/>
        </p:nvSpPr>
        <p:spPr>
          <a:xfrm>
            <a:off x="3630168" y="3410712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Docker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Kubernetes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Redis target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Prometheus</a:t>
            </a:r>
            <a:endParaRPr lang="en-US" sz="1200"/>
          </a:p>
        </p:txBody>
      </p:sp>
      <p:sp>
        <p:nvSpPr>
          <p:cNvPr id="116" name="Card"/>
          <p:cNvSpPr/>
          <p:nvPr/>
        </p:nvSpPr>
        <p:spPr>
          <a:xfrm>
            <a:off x="6217920" y="2880360"/>
            <a:ext cx="246888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Accent"/>
          <p:cNvSpPr/>
          <p:nvPr/>
        </p:nvSpPr>
        <p:spPr>
          <a:xfrm>
            <a:off x="6217920" y="2880360"/>
            <a:ext cx="73152" cy="1024128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"/>
          <p:cNvSpPr txBox="1"/>
          <p:nvPr/>
        </p:nvSpPr>
        <p:spPr>
          <a:xfrm>
            <a:off x="6419088" y="3044952"/>
            <a:ext cx="20848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Testing</a:t>
            </a:r>
            <a:endParaRPr lang="en-US" sz="1500"/>
          </a:p>
        </p:txBody>
      </p:sp>
      <p:sp>
        <p:nvSpPr>
          <p:cNvPr id="119" name="Text"/>
          <p:cNvSpPr txBox="1"/>
          <p:nvPr/>
        </p:nvSpPr>
        <p:spPr>
          <a:xfrm>
            <a:off x="6419088" y="3410712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Pytest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pytest-asyncio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Ruff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Bandit</a:t>
            </a:r>
            <a:endParaRPr lang="en-US" sz="1200"/>
          </a:p>
        </p:txBody>
      </p:sp>
      <p:sp>
        <p:nvSpPr>
          <p:cNvPr id="120" name="Card"/>
          <p:cNvSpPr/>
          <p:nvPr/>
        </p:nvSpPr>
        <p:spPr>
          <a:xfrm>
            <a:off x="9006840" y="2880360"/>
            <a:ext cx="246888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Accent"/>
          <p:cNvSpPr/>
          <p:nvPr/>
        </p:nvSpPr>
        <p:spPr>
          <a:xfrm>
            <a:off x="9006840" y="2880360"/>
            <a:ext cx="73152" cy="1024128"/>
          </a:xfrm>
          <a:prstGeom prst="roundRect">
            <a:avLst>
              <a:gd name="adj" fmla="val 9000"/>
            </a:avLst>
          </a:prstGeom>
          <a:solidFill>
            <a:srgbClr val="16653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"/>
          <p:cNvSpPr txBox="1"/>
          <p:nvPr/>
        </p:nvSpPr>
        <p:spPr>
          <a:xfrm>
            <a:off x="9208008" y="3044952"/>
            <a:ext cx="20848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Ops</a:t>
            </a:r>
            <a:endParaRPr lang="en-US" sz="1500"/>
          </a:p>
        </p:txBody>
      </p:sp>
      <p:sp>
        <p:nvSpPr>
          <p:cNvPr id="123" name="Text"/>
          <p:cNvSpPr txBox="1"/>
          <p:nvPr/>
        </p:nvSpPr>
        <p:spPr>
          <a:xfrm>
            <a:off x="9208008" y="3410712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CI workflow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Security docs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Hardening plan</a:t>
            </a:r>
            <a:endParaRPr lang="en-US" sz="1200"/>
          </a:p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Monitoring rules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op Bar"/>
          <p:cNvSpPr/>
          <p:nvPr/>
        </p:nvSpPr>
        <p:spPr>
          <a:xfrm>
            <a:off x="0" y="0"/>
            <a:ext cx="13333333" cy="201168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itle"/>
          <p:cNvSpPr txBox="1"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0B1726"/>
                </a:solidFill>
                <a:latin typeface="Aptos"/>
              </a:rPr>
              <a:t>How It Works</a:t>
            </a:r>
            <a:endParaRPr lang="en-US" sz="2800"/>
          </a:p>
        </p:txBody>
      </p:sp>
      <p:sp>
        <p:nvSpPr>
          <p:cNvPr id="126" name="Subtitle"/>
          <p:cNvSpPr txBox="1"/>
          <p:nvPr/>
        </p:nvSpPr>
        <p:spPr>
          <a:xfrm>
            <a:off x="521207" y="868680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End-to-end flow</a:t>
            </a:r>
            <a:endParaRPr lang="en-US" sz="1200"/>
          </a:p>
        </p:txBody>
      </p:sp>
      <p:sp>
        <p:nvSpPr>
          <p:cNvPr id="127" name="Flow Node"/>
          <p:cNvSpPr/>
          <p:nvPr/>
        </p:nvSpPr>
        <p:spPr>
          <a:xfrm>
            <a:off x="685800" y="1828800"/>
            <a:ext cx="1691640" cy="640080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"/>
          <p:cNvSpPr txBox="1"/>
          <p:nvPr/>
        </p:nvSpPr>
        <p:spPr>
          <a:xfrm>
            <a:off x="795528" y="20116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/>
              </a:rPr>
              <a:t>Android collects signal</a:t>
            </a:r>
            <a:endParaRPr lang="en-US" sz="1300"/>
          </a:p>
        </p:txBody>
      </p:sp>
      <p:cxnSp>
        <p:nvCxnSpPr>
          <p:cNvPr id="129" name="Arrow"/>
          <p:cNvCxnSpPr/>
          <p:nvPr/>
        </p:nvCxnSpPr>
        <p:spPr>
          <a:xfrm>
            <a:off x="2423160" y="2148840"/>
            <a:ext cx="548640" cy="0"/>
          </a:xfrm>
          <a:prstGeom prst="line">
            <a:avLst/>
          </a:prstGeom>
          <a:ln w="25400">
            <a:solidFill>
              <a:srgbClr val="64748B"/>
            </a:solidFill>
            <a:tailEnd type="none"/>
            <a:headEnd type="triangle"/>
          </a:ln>
        </p:spPr>
      </p:cxnSp>
      <p:sp>
        <p:nvSpPr>
          <p:cNvPr id="130" name="Flow Node"/>
          <p:cNvSpPr/>
          <p:nvPr/>
        </p:nvSpPr>
        <p:spPr>
          <a:xfrm>
            <a:off x="3017520" y="1828800"/>
            <a:ext cx="1691640" cy="64008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"/>
          <p:cNvSpPr txBox="1"/>
          <p:nvPr/>
        </p:nvSpPr>
        <p:spPr>
          <a:xfrm>
            <a:off x="3127248" y="20116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/>
              </a:rPr>
              <a:t>Local scanners score</a:t>
            </a:r>
            <a:endParaRPr lang="en-US" sz="1300"/>
          </a:p>
        </p:txBody>
      </p:sp>
      <p:cxnSp>
        <p:nvCxnSpPr>
          <p:cNvPr id="132" name="Arrow"/>
          <p:cNvCxnSpPr/>
          <p:nvPr/>
        </p:nvCxnSpPr>
        <p:spPr>
          <a:xfrm>
            <a:off x="4754880" y="2148840"/>
            <a:ext cx="548639" cy="0"/>
          </a:xfrm>
          <a:prstGeom prst="line">
            <a:avLst/>
          </a:prstGeom>
          <a:ln w="25400">
            <a:solidFill>
              <a:srgbClr val="64748B"/>
            </a:solidFill>
            <a:tailEnd type="none"/>
            <a:headEnd type="triangle"/>
          </a:ln>
        </p:spPr>
      </p:cxnSp>
      <p:sp>
        <p:nvSpPr>
          <p:cNvPr id="133" name="Flow Node"/>
          <p:cNvSpPr/>
          <p:nvPr/>
        </p:nvSpPr>
        <p:spPr>
          <a:xfrm>
            <a:off x="5349240" y="1828800"/>
            <a:ext cx="1691640" cy="640080"/>
          </a:xfrm>
          <a:prstGeom prst="roundRect">
            <a:avLst>
              <a:gd name="adj" fmla="val 9000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"/>
          <p:cNvSpPr txBox="1"/>
          <p:nvPr/>
        </p:nvSpPr>
        <p:spPr>
          <a:xfrm>
            <a:off x="5458968" y="20116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/>
              </a:rPr>
              <a:t>Consent gate</a:t>
            </a:r>
            <a:endParaRPr lang="en-US" sz="1300"/>
          </a:p>
        </p:txBody>
      </p:sp>
      <p:cxnSp>
        <p:nvCxnSpPr>
          <p:cNvPr id="135" name="Arrow"/>
          <p:cNvCxnSpPr/>
          <p:nvPr/>
        </p:nvCxnSpPr>
        <p:spPr>
          <a:xfrm>
            <a:off x="7086600" y="2148840"/>
            <a:ext cx="548639" cy="0"/>
          </a:xfrm>
          <a:prstGeom prst="line">
            <a:avLst/>
          </a:prstGeom>
          <a:ln w="25400">
            <a:solidFill>
              <a:srgbClr val="64748B"/>
            </a:solidFill>
            <a:tailEnd type="none"/>
            <a:headEnd type="triangle"/>
          </a:ln>
        </p:spPr>
      </p:cxnSp>
      <p:sp>
        <p:nvSpPr>
          <p:cNvPr id="136" name="Flow Node"/>
          <p:cNvSpPr/>
          <p:nvPr/>
        </p:nvSpPr>
        <p:spPr>
          <a:xfrm>
            <a:off x="7680960" y="1828800"/>
            <a:ext cx="1691640" cy="640080"/>
          </a:xfrm>
          <a:prstGeom prst="roundRect">
            <a:avLst>
              <a:gd name="adj" fmla="val 9000"/>
            </a:avLst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"/>
          <p:cNvSpPr txBox="1"/>
          <p:nvPr/>
        </p:nvSpPr>
        <p:spPr>
          <a:xfrm>
            <a:off x="7790688" y="20116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/>
              </a:rPr>
              <a:t>FastAPI analysis</a:t>
            </a:r>
            <a:endParaRPr lang="en-US" sz="1300"/>
          </a:p>
        </p:txBody>
      </p:sp>
      <p:cxnSp>
        <p:nvCxnSpPr>
          <p:cNvPr id="138" name="Arrow"/>
          <p:cNvCxnSpPr/>
          <p:nvPr/>
        </p:nvCxnSpPr>
        <p:spPr>
          <a:xfrm>
            <a:off x="9418320" y="2148840"/>
            <a:ext cx="548639" cy="0"/>
          </a:xfrm>
          <a:prstGeom prst="line">
            <a:avLst/>
          </a:prstGeom>
          <a:ln w="25400">
            <a:solidFill>
              <a:srgbClr val="64748B"/>
            </a:solidFill>
            <a:tailEnd type="none"/>
            <a:headEnd type="triangle"/>
          </a:ln>
        </p:spPr>
      </p:cxnSp>
      <p:sp>
        <p:nvSpPr>
          <p:cNvPr id="139" name="Flow Node"/>
          <p:cNvSpPr/>
          <p:nvPr/>
        </p:nvSpPr>
        <p:spPr>
          <a:xfrm>
            <a:off x="10012680" y="1828800"/>
            <a:ext cx="1691640" cy="640080"/>
          </a:xfrm>
          <a:prstGeom prst="roundRect">
            <a:avLst>
              <a:gd name="adj" fmla="val 9000"/>
            </a:avLst>
          </a:prstGeom>
          <a:solidFill>
            <a:srgbClr val="16653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"/>
          <p:cNvSpPr txBox="1"/>
          <p:nvPr/>
        </p:nvSpPr>
        <p:spPr>
          <a:xfrm>
            <a:off x="10122407" y="20116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/>
              </a:rPr>
              <a:t>Findings + actions</a:t>
            </a:r>
            <a:endParaRPr lang="en-US" sz="1300"/>
          </a:p>
        </p:txBody>
      </p:sp>
      <p:sp>
        <p:nvSpPr>
          <p:cNvPr id="141" name="Bullets"/>
          <p:cNvSpPr txBox="1"/>
          <p:nvPr/>
        </p:nvSpPr>
        <p:spPr>
          <a:xfrm>
            <a:off x="914400" y="3429000"/>
            <a:ext cx="1024128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Device gathers app permissions, user-submitted text/URLs, media labels, and local scan outcomes.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Local-first checks produce immediate findings without uploading raw private artifacts.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When cloud analysis is needed, requests must include explicit privacy consent.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Backend detectors classify risk, produce evidence, log redacted audit events, and return explainable remediation guidance.</a:t>
            </a:r>
            <a:endParaRPr lang="en-US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op Bar"/>
          <p:cNvSpPr/>
          <p:nvPr/>
        </p:nvSpPr>
        <p:spPr>
          <a:xfrm>
            <a:off x="0" y="0"/>
            <a:ext cx="13333333" cy="201168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itle"/>
          <p:cNvSpPr txBox="1"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0B1726"/>
                </a:solidFill>
                <a:latin typeface="Aptos"/>
              </a:rPr>
              <a:t>Major Key Points</a:t>
            </a:r>
            <a:endParaRPr lang="en-US" sz="2800"/>
          </a:p>
        </p:txBody>
      </p:sp>
      <p:sp>
        <p:nvSpPr>
          <p:cNvPr id="144" name="Subtitle"/>
          <p:cNvSpPr txBox="1"/>
          <p:nvPr/>
        </p:nvSpPr>
        <p:spPr>
          <a:xfrm>
            <a:off x="521207" y="868680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What differentiates the implementation</a:t>
            </a:r>
            <a:endParaRPr lang="en-US" sz="1200"/>
          </a:p>
        </p:txBody>
      </p:sp>
      <p:sp>
        <p:nvSpPr>
          <p:cNvPr id="145" name="Bullets"/>
          <p:cNvSpPr txBox="1"/>
          <p:nvPr/>
        </p:nvSpPr>
        <p:spPr>
          <a:xfrm>
            <a:off x="822960" y="1298448"/>
            <a:ext cx="5029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Font typeface="Aptos"/>
              <a:buChar char="•"/>
            </a:pPr>
            <a:r>
              <a:rPr lang="en-US" sz="1800">
                <a:solidFill>
                  <a:srgbClr val="0B1726"/>
                </a:solidFill>
                <a:latin typeface="Aptos"/>
              </a:rPr>
              <a:t>Local-first protection reduces unnecessary cloud exposure.</a:t>
            </a:r>
            <a:endParaRPr lang="en-US" sz="1800"/>
          </a:p>
          <a:p>
            <a:pPr marL="285750" indent="-171450">
              <a:buFont typeface="Aptos"/>
              <a:buChar char="•"/>
            </a:pPr>
            <a:r>
              <a:rPr lang="en-US" sz="1800">
                <a:solidFill>
                  <a:srgbClr val="0B1726"/>
                </a:solidFill>
                <a:latin typeface="Aptos"/>
              </a:rPr>
              <a:t>Consent is required for artifact analysis endpoints.</a:t>
            </a:r>
            <a:endParaRPr lang="en-US" sz="1800"/>
          </a:p>
          <a:p>
            <a:pPr marL="285750" indent="-171450">
              <a:buFont typeface="Aptos"/>
              <a:buChar char="•"/>
            </a:pPr>
            <a:r>
              <a:rPr lang="en-US" sz="1800">
                <a:solidFill>
                  <a:srgbClr val="0B1726"/>
                </a:solidFill>
                <a:latin typeface="Aptos"/>
              </a:rPr>
              <a:t>Raw artifacts are not retained by default.</a:t>
            </a:r>
            <a:endParaRPr lang="en-US" sz="1800"/>
          </a:p>
          <a:p>
            <a:pPr marL="285750" indent="-171450">
              <a:buFont typeface="Aptos"/>
              <a:buChar char="•"/>
            </a:pPr>
            <a:r>
              <a:rPr lang="en-US" sz="1800">
                <a:solidFill>
                  <a:srgbClr val="0B1726"/>
                </a:solidFill>
                <a:latin typeface="Aptos"/>
              </a:rPr>
              <a:t>Risk scoring is explainable with findings and recommendations.</a:t>
            </a:r>
            <a:endParaRPr lang="en-US" sz="1800"/>
          </a:p>
          <a:p>
            <a:pPr marL="285750" indent="-171450">
              <a:buFont typeface="Aptos"/>
              <a:buChar char="•"/>
            </a:pPr>
            <a:r>
              <a:rPr lang="en-US" sz="1800">
                <a:solidFill>
                  <a:srgbClr val="0B1726"/>
                </a:solidFill>
                <a:latin typeface="Aptos"/>
              </a:rPr>
              <a:t>Mobile-specific signals are handled together instead of separately.</a:t>
            </a:r>
            <a:endParaRPr lang="en-US" sz="1800"/>
          </a:p>
          <a:p>
            <a:pPr marL="285750" indent="-171450">
              <a:buFont typeface="Aptos"/>
              <a:buChar char="•"/>
            </a:pPr>
            <a:r>
              <a:rPr lang="en-US" sz="1800">
                <a:solidFill>
                  <a:srgbClr val="0B1726"/>
                </a:solidFill>
                <a:latin typeface="Aptos"/>
              </a:rPr>
              <a:t>External AI is policy-controlled and disabled by default.</a:t>
            </a:r>
            <a:endParaRPr lang="en-US" sz="1800"/>
          </a:p>
        </p:txBody>
      </p:sp>
      <p:sp>
        <p:nvSpPr>
          <p:cNvPr id="146" name="Card"/>
          <p:cNvSpPr/>
          <p:nvPr/>
        </p:nvSpPr>
        <p:spPr>
          <a:xfrm>
            <a:off x="6446520" y="1417320"/>
            <a:ext cx="43891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7" name="Accent"/>
          <p:cNvSpPr/>
          <p:nvPr/>
        </p:nvSpPr>
        <p:spPr>
          <a:xfrm>
            <a:off x="6446520" y="1417320"/>
            <a:ext cx="73152" cy="960120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"/>
          <p:cNvSpPr txBox="1"/>
          <p:nvPr/>
        </p:nvSpPr>
        <p:spPr>
          <a:xfrm>
            <a:off x="6647688" y="1581912"/>
            <a:ext cx="40050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Trust model</a:t>
            </a:r>
            <a:endParaRPr lang="en-US" sz="1500"/>
          </a:p>
        </p:txBody>
      </p:sp>
      <p:sp>
        <p:nvSpPr>
          <p:cNvPr id="149" name="Text"/>
          <p:cNvSpPr txBox="1"/>
          <p:nvPr/>
        </p:nvSpPr>
        <p:spPr>
          <a:xfrm>
            <a:off x="6647688" y="1947672"/>
            <a:ext cx="400507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Users remain in control of scan sources, retention, content safety, and backend sync settings.</a:t>
            </a:r>
            <a:endParaRPr lang="en-US" sz="1200"/>
          </a:p>
        </p:txBody>
      </p:sp>
      <p:sp>
        <p:nvSpPr>
          <p:cNvPr id="150" name="Card"/>
          <p:cNvSpPr/>
          <p:nvPr/>
        </p:nvSpPr>
        <p:spPr>
          <a:xfrm>
            <a:off x="6446520" y="2743200"/>
            <a:ext cx="43891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Accent"/>
          <p:cNvSpPr/>
          <p:nvPr/>
        </p:nvSpPr>
        <p:spPr>
          <a:xfrm>
            <a:off x="6446520" y="2743200"/>
            <a:ext cx="73152" cy="96012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"/>
          <p:cNvSpPr txBox="1"/>
          <p:nvPr/>
        </p:nvSpPr>
        <p:spPr>
          <a:xfrm>
            <a:off x="6647688" y="2907792"/>
            <a:ext cx="40050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Security model</a:t>
            </a:r>
            <a:endParaRPr lang="en-US" sz="1500"/>
          </a:p>
        </p:txBody>
      </p:sp>
      <p:sp>
        <p:nvSpPr>
          <p:cNvPr id="153" name="Text"/>
          <p:cNvSpPr txBox="1"/>
          <p:nvPr/>
        </p:nvSpPr>
        <p:spPr>
          <a:xfrm>
            <a:off x="6647688" y="3273552"/>
            <a:ext cx="400507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Scoped auth, rate limits, privacy consent, redaction, pseudonymous audit IDs, and security headers form the first production guardrail layer.</a:t>
            </a:r>
            <a:endParaRPr lang="en-US" sz="1200"/>
          </a:p>
        </p:txBody>
      </p:sp>
      <p:sp>
        <p:nvSpPr>
          <p:cNvPr id="154" name="Card"/>
          <p:cNvSpPr/>
          <p:nvPr/>
        </p:nvSpPr>
        <p:spPr>
          <a:xfrm>
            <a:off x="6446520" y="4069080"/>
            <a:ext cx="43891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Accent"/>
          <p:cNvSpPr/>
          <p:nvPr/>
        </p:nvSpPr>
        <p:spPr>
          <a:xfrm>
            <a:off x="6446520" y="4069080"/>
            <a:ext cx="73152" cy="960120"/>
          </a:xfrm>
          <a:prstGeom prst="roundRect">
            <a:avLst>
              <a:gd name="adj" fmla="val 9000"/>
            </a:avLst>
          </a:prstGeom>
          <a:solidFill>
            <a:srgbClr val="16653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"/>
          <p:cNvSpPr txBox="1"/>
          <p:nvPr/>
        </p:nvSpPr>
        <p:spPr>
          <a:xfrm>
            <a:off x="6647688" y="4233672"/>
            <a:ext cx="40050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Scalability model</a:t>
            </a:r>
            <a:endParaRPr lang="en-US" sz="1500"/>
          </a:p>
        </p:txBody>
      </p:sp>
      <p:sp>
        <p:nvSpPr>
          <p:cNvPr id="157" name="Text"/>
          <p:cNvSpPr txBox="1"/>
          <p:nvPr/>
        </p:nvSpPr>
        <p:spPr>
          <a:xfrm>
            <a:off x="6647688" y="4599432"/>
            <a:ext cx="400507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Current single-process API mirrors future microservice boundaries for agent, detection, threat intelligence, notification, and dashboard services.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op Bar"/>
          <p:cNvSpPr/>
          <p:nvPr/>
        </p:nvSpPr>
        <p:spPr>
          <a:xfrm>
            <a:off x="0" y="0"/>
            <a:ext cx="13333333" cy="201168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itle"/>
          <p:cNvSpPr txBox="1"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0B1726"/>
                </a:solidFill>
                <a:latin typeface="Aptos"/>
              </a:rPr>
              <a:t>Detection Coverage</a:t>
            </a:r>
            <a:endParaRPr lang="en-US" sz="2800"/>
          </a:p>
        </p:txBody>
      </p:sp>
      <p:sp>
        <p:nvSpPr>
          <p:cNvPr id="160" name="Subtitle"/>
          <p:cNvSpPr txBox="1"/>
          <p:nvPr/>
        </p:nvSpPr>
        <p:spPr>
          <a:xfrm>
            <a:off x="521207" y="868680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Current scanning domains</a:t>
            </a:r>
            <a:endParaRPr lang="en-US" sz="1200"/>
          </a:p>
        </p:txBody>
      </p:sp>
      <p:sp>
        <p:nvSpPr>
          <p:cNvPr id="161" name="Card"/>
          <p:cNvSpPr/>
          <p:nvPr/>
        </p:nvSpPr>
        <p:spPr>
          <a:xfrm>
            <a:off x="640080" y="1234440"/>
            <a:ext cx="274320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Accent"/>
          <p:cNvSpPr/>
          <p:nvPr/>
        </p:nvSpPr>
        <p:spPr>
          <a:xfrm>
            <a:off x="640080" y="1234440"/>
            <a:ext cx="73152" cy="841248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"/>
          <p:cNvSpPr txBox="1"/>
          <p:nvPr/>
        </p:nvSpPr>
        <p:spPr>
          <a:xfrm>
            <a:off x="841247" y="1399032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Permissions</a:t>
            </a:r>
            <a:endParaRPr lang="en-US" sz="1500"/>
          </a:p>
        </p:txBody>
      </p:sp>
      <p:sp>
        <p:nvSpPr>
          <p:cNvPr id="164" name="Text"/>
          <p:cNvSpPr txBox="1"/>
          <p:nvPr/>
        </p:nvSpPr>
        <p:spPr>
          <a:xfrm>
            <a:off x="841247" y="1764792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Dangerous Android permissions and risky combinations.</a:t>
            </a:r>
            <a:endParaRPr lang="en-US" sz="1200"/>
          </a:p>
        </p:txBody>
      </p:sp>
      <p:sp>
        <p:nvSpPr>
          <p:cNvPr id="165" name="Card"/>
          <p:cNvSpPr/>
          <p:nvPr/>
        </p:nvSpPr>
        <p:spPr>
          <a:xfrm>
            <a:off x="3611880" y="1234440"/>
            <a:ext cx="274320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Accent"/>
          <p:cNvSpPr/>
          <p:nvPr/>
        </p:nvSpPr>
        <p:spPr>
          <a:xfrm>
            <a:off x="3611880" y="1234440"/>
            <a:ext cx="73152" cy="841248"/>
          </a:xfrm>
          <a:prstGeom prst="roundRect">
            <a:avLst>
              <a:gd name="adj" fmla="val 9000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"/>
          <p:cNvSpPr txBox="1"/>
          <p:nvPr/>
        </p:nvSpPr>
        <p:spPr>
          <a:xfrm>
            <a:off x="3813048" y="1399032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Fraud Messages</a:t>
            </a:r>
            <a:endParaRPr lang="en-US" sz="1500"/>
          </a:p>
        </p:txBody>
      </p:sp>
      <p:sp>
        <p:nvSpPr>
          <p:cNvPr id="168" name="Text"/>
          <p:cNvSpPr txBox="1"/>
          <p:nvPr/>
        </p:nvSpPr>
        <p:spPr>
          <a:xfrm>
            <a:off x="3813048" y="1764792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OTP, KYC, banking, urgency, and social-engineering patterns.</a:t>
            </a:r>
            <a:endParaRPr lang="en-US" sz="1200"/>
          </a:p>
        </p:txBody>
      </p:sp>
      <p:sp>
        <p:nvSpPr>
          <p:cNvPr id="169" name="Card"/>
          <p:cNvSpPr/>
          <p:nvPr/>
        </p:nvSpPr>
        <p:spPr>
          <a:xfrm>
            <a:off x="6583680" y="1234440"/>
            <a:ext cx="274320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Accent"/>
          <p:cNvSpPr/>
          <p:nvPr/>
        </p:nvSpPr>
        <p:spPr>
          <a:xfrm>
            <a:off x="6583680" y="1234440"/>
            <a:ext cx="73152" cy="841248"/>
          </a:xfrm>
          <a:prstGeom prst="roundRect">
            <a:avLst>
              <a:gd name="adj" fmla="val 9000"/>
            </a:avLst>
          </a:prstGeom>
          <a:solidFill>
            <a:srgbClr val="B91C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"/>
          <p:cNvSpPr txBox="1"/>
          <p:nvPr/>
        </p:nvSpPr>
        <p:spPr>
          <a:xfrm>
            <a:off x="6784848" y="1399032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Phishing URLs</a:t>
            </a:r>
            <a:endParaRPr lang="en-US" sz="1500"/>
          </a:p>
        </p:txBody>
      </p:sp>
      <p:sp>
        <p:nvSpPr>
          <p:cNvPr id="172" name="Text"/>
          <p:cNvSpPr txBox="1"/>
          <p:nvPr/>
        </p:nvSpPr>
        <p:spPr>
          <a:xfrm>
            <a:off x="6784848" y="1764792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Obfuscation, suspicious TLDs, typosquatting, and unsafe transport.</a:t>
            </a:r>
            <a:endParaRPr lang="en-US" sz="1200"/>
          </a:p>
        </p:txBody>
      </p:sp>
      <p:sp>
        <p:nvSpPr>
          <p:cNvPr id="173" name="Card"/>
          <p:cNvSpPr/>
          <p:nvPr/>
        </p:nvSpPr>
        <p:spPr>
          <a:xfrm>
            <a:off x="640080" y="2606040"/>
            <a:ext cx="274320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4" name="Accent"/>
          <p:cNvSpPr/>
          <p:nvPr/>
        </p:nvSpPr>
        <p:spPr>
          <a:xfrm>
            <a:off x="640080" y="2606040"/>
            <a:ext cx="73152" cy="841248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"/>
          <p:cNvSpPr txBox="1"/>
          <p:nvPr/>
        </p:nvSpPr>
        <p:spPr>
          <a:xfrm>
            <a:off x="841247" y="2770632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Sensitive Data</a:t>
            </a:r>
            <a:endParaRPr lang="en-US" sz="1500"/>
          </a:p>
        </p:txBody>
      </p:sp>
      <p:sp>
        <p:nvSpPr>
          <p:cNvPr id="176" name="Text"/>
          <p:cNvSpPr txBox="1"/>
          <p:nvPr/>
        </p:nvSpPr>
        <p:spPr>
          <a:xfrm>
            <a:off x="841247" y="3136392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PAN, Aadhaar-like IDs, cards, CVV, IFSC, tokens, and wallet addresses.</a:t>
            </a:r>
            <a:endParaRPr lang="en-US" sz="1200"/>
          </a:p>
        </p:txBody>
      </p:sp>
      <p:sp>
        <p:nvSpPr>
          <p:cNvPr id="177" name="Card"/>
          <p:cNvSpPr/>
          <p:nvPr/>
        </p:nvSpPr>
        <p:spPr>
          <a:xfrm>
            <a:off x="3611880" y="2606040"/>
            <a:ext cx="274320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8" name="Accent"/>
          <p:cNvSpPr/>
          <p:nvPr/>
        </p:nvSpPr>
        <p:spPr>
          <a:xfrm>
            <a:off x="3611880" y="2606040"/>
            <a:ext cx="73152" cy="841248"/>
          </a:xfrm>
          <a:prstGeom prst="roundRect">
            <a:avLst>
              <a:gd name="adj" fmla="val 9000"/>
            </a:avLst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"/>
          <p:cNvSpPr txBox="1"/>
          <p:nvPr/>
        </p:nvSpPr>
        <p:spPr>
          <a:xfrm>
            <a:off x="3813048" y="2770632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Malware Indicators</a:t>
            </a:r>
            <a:endParaRPr lang="en-US" sz="1500"/>
          </a:p>
        </p:txBody>
      </p:sp>
      <p:sp>
        <p:nvSpPr>
          <p:cNvPr id="180" name="Text"/>
          <p:cNvSpPr txBox="1"/>
          <p:nvPr/>
        </p:nvSpPr>
        <p:spPr>
          <a:xfrm>
            <a:off x="3813048" y="3136392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Accessibility abuse, overlays, SMS abuse, package signals, malicious contacts.</a:t>
            </a:r>
            <a:endParaRPr lang="en-US" sz="1200"/>
          </a:p>
        </p:txBody>
      </p:sp>
      <p:sp>
        <p:nvSpPr>
          <p:cNvPr id="181" name="Card"/>
          <p:cNvSpPr/>
          <p:nvPr/>
        </p:nvSpPr>
        <p:spPr>
          <a:xfrm>
            <a:off x="6583680" y="2606040"/>
            <a:ext cx="274320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2" name="Accent"/>
          <p:cNvSpPr/>
          <p:nvPr/>
        </p:nvSpPr>
        <p:spPr>
          <a:xfrm>
            <a:off x="6583680" y="2606040"/>
            <a:ext cx="73152" cy="841248"/>
          </a:xfrm>
          <a:prstGeom prst="roundRect">
            <a:avLst>
              <a:gd name="adj" fmla="val 9000"/>
            </a:avLst>
          </a:prstGeom>
          <a:solidFill>
            <a:srgbClr val="16653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Text"/>
          <p:cNvSpPr txBox="1"/>
          <p:nvPr/>
        </p:nvSpPr>
        <p:spPr>
          <a:xfrm>
            <a:off x="6784848" y="2770632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Content Safety</a:t>
            </a:r>
            <a:endParaRPr lang="en-US" sz="1500"/>
          </a:p>
        </p:txBody>
      </p:sp>
      <p:sp>
        <p:nvSpPr>
          <p:cNvPr id="184" name="Text"/>
          <p:cNvSpPr txBox="1"/>
          <p:nvPr/>
        </p:nvSpPr>
        <p:spPr>
          <a:xfrm>
            <a:off x="6784848" y="3136392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Opt-in concrete harmful/illegal indicators and on-device adult media labels.</a:t>
            </a:r>
            <a:endParaRPr lang="en-US" sz="1200"/>
          </a:p>
        </p:txBody>
      </p:sp>
      <p:sp>
        <p:nvSpPr>
          <p:cNvPr id="185" name="Card"/>
          <p:cNvSpPr/>
          <p:nvPr/>
        </p:nvSpPr>
        <p:spPr>
          <a:xfrm>
            <a:off x="2834640" y="4160520"/>
            <a:ext cx="384048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6" name="Accent"/>
          <p:cNvSpPr/>
          <p:nvPr/>
        </p:nvSpPr>
        <p:spPr>
          <a:xfrm>
            <a:off x="2834640" y="4160520"/>
            <a:ext cx="73152" cy="841248"/>
          </a:xfrm>
          <a:prstGeom prst="roundRect">
            <a:avLst>
              <a:gd name="adj" fmla="val 9000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7" name="Text"/>
          <p:cNvSpPr txBox="1"/>
          <p:nvPr/>
        </p:nvSpPr>
        <p:spPr>
          <a:xfrm>
            <a:off x="3035808" y="4325112"/>
            <a:ext cx="34564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Download Guard</a:t>
            </a:r>
            <a:endParaRPr lang="en-US" sz="1500"/>
          </a:p>
        </p:txBody>
      </p:sp>
      <p:sp>
        <p:nvSpPr>
          <p:cNvPr id="188" name="Text"/>
          <p:cNvSpPr txBox="1"/>
          <p:nvPr/>
        </p:nvSpPr>
        <p:spPr>
          <a:xfrm>
            <a:off x="3035808" y="4690872"/>
            <a:ext cx="34564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Block, warn, or allow adult/explicit downloads based on minimized metadata and local labels.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op Bar"/>
          <p:cNvSpPr/>
          <p:nvPr/>
        </p:nvSpPr>
        <p:spPr>
          <a:xfrm>
            <a:off x="0" y="0"/>
            <a:ext cx="13333333" cy="201168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itle"/>
          <p:cNvSpPr txBox="1"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0B1726"/>
                </a:solidFill>
                <a:latin typeface="Aptos"/>
              </a:rPr>
              <a:t>Security And Privacy Posture</a:t>
            </a:r>
            <a:endParaRPr lang="en-US" sz="2800"/>
          </a:p>
        </p:txBody>
      </p:sp>
      <p:sp>
        <p:nvSpPr>
          <p:cNvPr id="191" name="Subtitle"/>
          <p:cNvSpPr txBox="1"/>
          <p:nvPr/>
        </p:nvSpPr>
        <p:spPr>
          <a:xfrm>
            <a:off x="521207" y="868680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Guardrails already represented in code and docs</a:t>
            </a:r>
            <a:endParaRPr lang="en-US" sz="1200"/>
          </a:p>
        </p:txBody>
      </p:sp>
      <p:sp>
        <p:nvSpPr>
          <p:cNvPr id="192" name="Bullets"/>
          <p:cNvSpPr txBox="1"/>
          <p:nvPr/>
        </p:nvSpPr>
        <p:spPr>
          <a:xfrm>
            <a:off x="777240" y="1325880"/>
            <a:ext cx="5166360" cy="4389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Scoped API-key authorization foundation for service/client access.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x-privacy-consent: granted required on protected analysis routes.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Per-device or per-client rate limiting to reduce automated abuse.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Security headers and production configuration validation.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Pseudonymized audit events with redacted summaries.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Tamper-evident action log signatures.</a:t>
            </a:r>
            <a:endParaRPr lang="en-US" sz="1700"/>
          </a:p>
        </p:txBody>
      </p:sp>
      <p:sp>
        <p:nvSpPr>
          <p:cNvPr id="193" name="Bullets"/>
          <p:cNvSpPr txBox="1"/>
          <p:nvPr/>
        </p:nvSpPr>
        <p:spPr>
          <a:xfrm>
            <a:off x="6355080" y="1325880"/>
            <a:ext cx="5166360" cy="4389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Zero raw artifact retention posture by default.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External AI calls disabled by default and subject to redaction rules.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Threat model, production hardening checklist, and production security roadmap are documented.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Kubernetes, Docker, CI, and monitoring assets are prepared for production evolution.</a:t>
            </a:r>
            <a:endParaRPr lang="en-US" sz="1700"/>
          </a:p>
          <a:p>
            <a:pPr marL="285750" indent="-171450">
              <a:buFont typeface="Aptos"/>
              <a:buChar char="•"/>
            </a:pPr>
            <a:r>
              <a:rPr lang="en-US" sz="1700">
                <a:solidFill>
                  <a:srgbClr val="0B1726"/>
                </a:solidFill>
                <a:latin typeface="Aptos"/>
              </a:rPr>
              <a:t>Private media decisions are designed around labels, not uploading explicit private content.</a:t>
            </a:r>
            <a:endParaRPr lang="en-US"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op Bar"/>
          <p:cNvSpPr/>
          <p:nvPr/>
        </p:nvSpPr>
        <p:spPr>
          <a:xfrm>
            <a:off x="0" y="0"/>
            <a:ext cx="13333333" cy="201168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5" name="Title"/>
          <p:cNvSpPr txBox="1"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0B1726"/>
                </a:solidFill>
                <a:latin typeface="Aptos"/>
              </a:rPr>
              <a:t>Current Deliverables</a:t>
            </a:r>
            <a:endParaRPr lang="en-US" sz="2800"/>
          </a:p>
        </p:txBody>
      </p:sp>
      <p:sp>
        <p:nvSpPr>
          <p:cNvPr id="196" name="Subtitle"/>
          <p:cNvSpPr txBox="1"/>
          <p:nvPr/>
        </p:nvSpPr>
        <p:spPr>
          <a:xfrm>
            <a:off x="521207" y="868680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Repository assets available now</a:t>
            </a:r>
            <a:endParaRPr lang="en-US" sz="1200"/>
          </a:p>
        </p:txBody>
      </p:sp>
      <p:sp>
        <p:nvSpPr>
          <p:cNvPr id="197" name="Card"/>
          <p:cNvSpPr/>
          <p:nvPr/>
        </p:nvSpPr>
        <p:spPr>
          <a:xfrm>
            <a:off x="685800" y="1280160"/>
            <a:ext cx="329184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8" name="Accent"/>
          <p:cNvSpPr/>
          <p:nvPr/>
        </p:nvSpPr>
        <p:spPr>
          <a:xfrm>
            <a:off x="685800" y="1280160"/>
            <a:ext cx="73152" cy="960120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9" name="Text"/>
          <p:cNvSpPr txBox="1"/>
          <p:nvPr/>
        </p:nvSpPr>
        <p:spPr>
          <a:xfrm>
            <a:off x="886968" y="1444751"/>
            <a:ext cx="29077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APK artifacts</a:t>
            </a:r>
            <a:endParaRPr lang="en-US" sz="1500"/>
          </a:p>
        </p:txBody>
      </p:sp>
      <p:sp>
        <p:nvSpPr>
          <p:cNvPr id="200" name="Text"/>
          <p:cNvSpPr txBox="1"/>
          <p:nvPr/>
        </p:nvSpPr>
        <p:spPr>
          <a:xfrm>
            <a:off x="886968" y="181051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Debug APKs are present for Privacy Guardian / SentryNet testing.</a:t>
            </a:r>
            <a:endParaRPr lang="en-US" sz="1200"/>
          </a:p>
        </p:txBody>
      </p:sp>
      <p:sp>
        <p:nvSpPr>
          <p:cNvPr id="201" name="Card"/>
          <p:cNvSpPr/>
          <p:nvPr/>
        </p:nvSpPr>
        <p:spPr>
          <a:xfrm>
            <a:off x="4434840" y="1280160"/>
            <a:ext cx="329184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2" name="Accent"/>
          <p:cNvSpPr/>
          <p:nvPr/>
        </p:nvSpPr>
        <p:spPr>
          <a:xfrm>
            <a:off x="4434840" y="1280160"/>
            <a:ext cx="73152" cy="96012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3" name="Text"/>
          <p:cNvSpPr txBox="1"/>
          <p:nvPr/>
        </p:nvSpPr>
        <p:spPr>
          <a:xfrm>
            <a:off x="4636007" y="1444751"/>
            <a:ext cx="29077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Backend code</a:t>
            </a:r>
            <a:endParaRPr lang="en-US" sz="1500"/>
          </a:p>
        </p:txBody>
      </p:sp>
      <p:sp>
        <p:nvSpPr>
          <p:cNvPr id="204" name="Text"/>
          <p:cNvSpPr txBox="1"/>
          <p:nvPr/>
        </p:nvSpPr>
        <p:spPr>
          <a:xfrm>
            <a:off x="4636007" y="181051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FastAPI app, schemas, detection services, auth, privacy, rate-limit, security middleware, and audit service.</a:t>
            </a:r>
            <a:endParaRPr lang="en-US" sz="1200"/>
          </a:p>
        </p:txBody>
      </p:sp>
      <p:sp>
        <p:nvSpPr>
          <p:cNvPr id="205" name="Card"/>
          <p:cNvSpPr/>
          <p:nvPr/>
        </p:nvSpPr>
        <p:spPr>
          <a:xfrm>
            <a:off x="8183879" y="1280160"/>
            <a:ext cx="329184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6" name="Accent"/>
          <p:cNvSpPr/>
          <p:nvPr/>
        </p:nvSpPr>
        <p:spPr>
          <a:xfrm>
            <a:off x="8183879" y="1280160"/>
            <a:ext cx="73152" cy="960120"/>
          </a:xfrm>
          <a:prstGeom prst="roundRect">
            <a:avLst>
              <a:gd name="adj" fmla="val 9000"/>
            </a:avLst>
          </a:prstGeom>
          <a:solidFill>
            <a:srgbClr val="16653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Text"/>
          <p:cNvSpPr txBox="1"/>
          <p:nvPr/>
        </p:nvSpPr>
        <p:spPr>
          <a:xfrm>
            <a:off x="8385048" y="1444751"/>
            <a:ext cx="29077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Documentation</a:t>
            </a:r>
            <a:endParaRPr lang="en-US" sz="1500"/>
          </a:p>
        </p:txBody>
      </p:sp>
      <p:sp>
        <p:nvSpPr>
          <p:cNvPr id="208" name="Text"/>
          <p:cNvSpPr txBox="1"/>
          <p:nvPr/>
        </p:nvSpPr>
        <p:spPr>
          <a:xfrm>
            <a:off x="8385048" y="181051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Architecture, API specification, Android app notes, DB schema, deployment, LangGraph workflow, security docs.</a:t>
            </a:r>
            <a:endParaRPr lang="en-US" sz="1200"/>
          </a:p>
        </p:txBody>
      </p:sp>
      <p:sp>
        <p:nvSpPr>
          <p:cNvPr id="209" name="Bullets"/>
          <p:cNvSpPr txBox="1"/>
          <p:nvPr/>
        </p:nvSpPr>
        <p:spPr>
          <a:xfrm>
            <a:off x="822960" y="2880360"/>
            <a:ext cx="1024128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Font typeface="Aptos"/>
              <a:buChar char="•"/>
            </a:pPr>
            <a:r>
              <a:rPr lang="en-US" sz="1800">
                <a:solidFill>
                  <a:srgbClr val="0B1726"/>
                </a:solidFill>
                <a:latin typeface="Aptos"/>
              </a:rPr>
              <a:t>Tests cover API and detection behavior.</a:t>
            </a:r>
            <a:endParaRPr lang="en-US" sz="1800"/>
          </a:p>
          <a:p>
            <a:pPr marL="285750" indent="-171450">
              <a:buFont typeface="Aptos"/>
              <a:buChar char="•"/>
            </a:pPr>
            <a:r>
              <a:rPr lang="en-US" sz="1800">
                <a:solidFill>
                  <a:srgbClr val="0B1726"/>
                </a:solidFill>
                <a:latin typeface="Aptos"/>
              </a:rPr>
              <a:t>Dockerfile and docker-compose support local service execution.</a:t>
            </a:r>
            <a:endParaRPr lang="en-US" sz="1800"/>
          </a:p>
          <a:p>
            <a:pPr marL="285750" indent="-171450">
              <a:buFont typeface="Aptos"/>
              <a:buChar char="•"/>
            </a:pPr>
            <a:r>
              <a:rPr lang="en-US" sz="1800">
                <a:solidFill>
                  <a:srgbClr val="0B1726"/>
                </a:solidFill>
                <a:latin typeface="Aptos"/>
              </a:rPr>
              <a:t>Kubernetes manifests define API deployment/service/configmap.</a:t>
            </a:r>
            <a:endParaRPr lang="en-US" sz="1800"/>
          </a:p>
          <a:p>
            <a:pPr marL="285750" indent="-171450">
              <a:buFont typeface="Aptos"/>
              <a:buChar char="•"/>
            </a:pPr>
            <a:r>
              <a:rPr lang="en-US" sz="1800">
                <a:solidFill>
                  <a:srgbClr val="0B1726"/>
                </a:solidFill>
                <a:latin typeface="Aptos"/>
              </a:rPr>
              <a:t>Prometheus rules and CI workflow prepare the project for operational hardening.</a:t>
            </a:r>
            <a:endParaRPr 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op Bar"/>
          <p:cNvSpPr/>
          <p:nvPr/>
        </p:nvSpPr>
        <p:spPr>
          <a:xfrm>
            <a:off x="0" y="0"/>
            <a:ext cx="13333333" cy="201168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Title"/>
          <p:cNvSpPr txBox="1"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0B1726"/>
                </a:solidFill>
                <a:latin typeface="Aptos"/>
              </a:rPr>
              <a:t>Future Development</a:t>
            </a:r>
            <a:endParaRPr lang="en-US" sz="2800"/>
          </a:p>
        </p:txBody>
      </p:sp>
      <p:sp>
        <p:nvSpPr>
          <p:cNvPr id="212" name="Subtitle"/>
          <p:cNvSpPr txBox="1"/>
          <p:nvPr/>
        </p:nvSpPr>
        <p:spPr>
          <a:xfrm>
            <a:off x="521207" y="868680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Planned product and engineering roadmap</a:t>
            </a:r>
            <a:endParaRPr lang="en-US" sz="1200"/>
          </a:p>
        </p:txBody>
      </p:sp>
      <p:sp>
        <p:nvSpPr>
          <p:cNvPr id="213" name="Bullets"/>
          <p:cNvSpPr txBox="1"/>
          <p:nvPr/>
        </p:nvSpPr>
        <p:spPr>
          <a:xfrm>
            <a:off x="731520" y="1261872"/>
            <a:ext cx="521208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Add Android collectors for notification events, QR/deep links, files, local SQLite sync, and richer permission snapshots.</a:t>
            </a:r>
            <a:endParaRPr lang="en-US" sz="1600"/>
          </a:p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Replace heuristic adapters with trained fraud, phishing, OCR, PII, malware, and media classifiers.</a:t>
            </a:r>
            <a:endParaRPr lang="en-US" sz="1600"/>
          </a:p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Add pgvector retrieval over threat intelligence and user-specific security history.</a:t>
            </a:r>
            <a:endParaRPr lang="en-US" sz="1600"/>
          </a:p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Implement signed threat-feed ingestion and provenance verification.</a:t>
            </a:r>
            <a:endParaRPr lang="en-US" sz="1600"/>
          </a:p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Add notification engine, dashboard trends, and user preference controls.</a:t>
            </a:r>
            <a:endParaRPr lang="en-US" sz="1600"/>
          </a:p>
        </p:txBody>
      </p:sp>
      <p:sp>
        <p:nvSpPr>
          <p:cNvPr id="214" name="Bullets"/>
          <p:cNvSpPr txBox="1"/>
          <p:nvPr/>
        </p:nvSpPr>
        <p:spPr>
          <a:xfrm>
            <a:off x="6355080" y="1261872"/>
            <a:ext cx="521208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Move from API keys to OIDC/OAuth2, short-lived JWTs, refresh rotation, and device attestation.</a:t>
            </a:r>
            <a:endParaRPr lang="en-US" sz="1600"/>
          </a:p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Use KMS/secret manager, field-level encryption, append-only audit storage, and user-controlled export/delete/retention flows.</a:t>
            </a:r>
            <a:endParaRPr lang="en-US" sz="1600"/>
          </a:p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Add APK static analysis sandboxing and OCR isolation.</a:t>
            </a:r>
            <a:endParaRPr lang="en-US" sz="1600"/>
          </a:p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Expand CI with SAST, DAST, dependency, container, and IaC scans.</a:t>
            </a:r>
            <a:endParaRPr lang="en-US" sz="1600"/>
          </a:p>
          <a:p>
            <a:pPr marL="285750" indent="-171450">
              <a:buFont typeface="Aptos"/>
              <a:buChar char="•"/>
            </a:pPr>
            <a:r>
              <a:rPr lang="en-US" sz="1600">
                <a:solidFill>
                  <a:srgbClr val="0B1726"/>
                </a:solidFill>
                <a:latin typeface="Aptos"/>
              </a:rPr>
              <a:t>Introduce mobile biometric gate for vault and sensitive remediation actions.</a:t>
            </a:r>
            <a:endParaRPr 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op Bar"/>
          <p:cNvSpPr/>
          <p:nvPr/>
        </p:nvSpPr>
        <p:spPr>
          <a:xfrm>
            <a:off x="0" y="0"/>
            <a:ext cx="13333333" cy="201168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6" name="Title"/>
          <p:cNvSpPr txBox="1"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0B1726"/>
                </a:solidFill>
                <a:latin typeface="Aptos"/>
              </a:rPr>
              <a:t>Recommended Next Build Phases</a:t>
            </a:r>
            <a:endParaRPr lang="en-US" sz="2800"/>
          </a:p>
        </p:txBody>
      </p:sp>
      <p:sp>
        <p:nvSpPr>
          <p:cNvPr id="217" name="Subtitle"/>
          <p:cNvSpPr txBox="1"/>
          <p:nvPr/>
        </p:nvSpPr>
        <p:spPr>
          <a:xfrm>
            <a:off x="521207" y="868680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A practical delivery path</a:t>
            </a:r>
            <a:endParaRPr lang="en-US" sz="1200"/>
          </a:p>
        </p:txBody>
      </p:sp>
      <p:sp>
        <p:nvSpPr>
          <p:cNvPr id="218" name="Card"/>
          <p:cNvSpPr/>
          <p:nvPr/>
        </p:nvSpPr>
        <p:spPr>
          <a:xfrm>
            <a:off x="685800" y="1207008"/>
            <a:ext cx="3429000" cy="10789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9" name="Accent"/>
          <p:cNvSpPr/>
          <p:nvPr/>
        </p:nvSpPr>
        <p:spPr>
          <a:xfrm>
            <a:off x="685800" y="1207008"/>
            <a:ext cx="73152" cy="1078992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Text"/>
          <p:cNvSpPr txBox="1"/>
          <p:nvPr/>
        </p:nvSpPr>
        <p:spPr>
          <a:xfrm>
            <a:off x="886968" y="1371600"/>
            <a:ext cx="30449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Phase 1: Stabilize MVP</a:t>
            </a:r>
            <a:endParaRPr lang="en-US" sz="1500"/>
          </a:p>
        </p:txBody>
      </p:sp>
      <p:sp>
        <p:nvSpPr>
          <p:cNvPr id="221" name="Text"/>
          <p:cNvSpPr txBox="1"/>
          <p:nvPr/>
        </p:nvSpPr>
        <p:spPr>
          <a:xfrm>
            <a:off x="886968" y="1737360"/>
            <a:ext cx="304495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Connect Android scan events to supported backend endpoints, tighten UI flows, validate settings/history/realtime behavior, and publish repeatable APK build steps.</a:t>
            </a:r>
            <a:endParaRPr lang="en-US" sz="1200"/>
          </a:p>
        </p:txBody>
      </p:sp>
      <p:sp>
        <p:nvSpPr>
          <p:cNvPr id="222" name="Card"/>
          <p:cNvSpPr/>
          <p:nvPr/>
        </p:nvSpPr>
        <p:spPr>
          <a:xfrm>
            <a:off x="4434840" y="1207008"/>
            <a:ext cx="3429000" cy="10789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3" name="Accent"/>
          <p:cNvSpPr/>
          <p:nvPr/>
        </p:nvSpPr>
        <p:spPr>
          <a:xfrm>
            <a:off x="4434840" y="1207008"/>
            <a:ext cx="73152" cy="1078992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"/>
          <p:cNvSpPr txBox="1"/>
          <p:nvPr/>
        </p:nvSpPr>
        <p:spPr>
          <a:xfrm>
            <a:off x="4636007" y="1371600"/>
            <a:ext cx="30449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Phase 2: Production API</a:t>
            </a:r>
            <a:endParaRPr lang="en-US" sz="1500"/>
          </a:p>
        </p:txBody>
      </p:sp>
      <p:sp>
        <p:nvSpPr>
          <p:cNvPr id="225" name="Text"/>
          <p:cNvSpPr txBox="1"/>
          <p:nvPr/>
        </p:nvSpPr>
        <p:spPr>
          <a:xfrm>
            <a:off x="4636007" y="1737360"/>
            <a:ext cx="304495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Persist findings, add managed auth, retention workflows, encrypted storage, alert delivery, and operational dashboards.</a:t>
            </a:r>
            <a:endParaRPr lang="en-US" sz="1200"/>
          </a:p>
        </p:txBody>
      </p:sp>
      <p:sp>
        <p:nvSpPr>
          <p:cNvPr id="226" name="Card"/>
          <p:cNvSpPr/>
          <p:nvPr/>
        </p:nvSpPr>
        <p:spPr>
          <a:xfrm>
            <a:off x="8183879" y="1207008"/>
            <a:ext cx="3429000" cy="10789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7" name="Accent"/>
          <p:cNvSpPr/>
          <p:nvPr/>
        </p:nvSpPr>
        <p:spPr>
          <a:xfrm>
            <a:off x="8183879" y="1207008"/>
            <a:ext cx="73152" cy="1078992"/>
          </a:xfrm>
          <a:prstGeom prst="roundRect">
            <a:avLst>
              <a:gd name="adj" fmla="val 9000"/>
            </a:avLst>
          </a:prstGeom>
          <a:solidFill>
            <a:srgbClr val="16653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8" name="Text"/>
          <p:cNvSpPr txBox="1"/>
          <p:nvPr/>
        </p:nvSpPr>
        <p:spPr>
          <a:xfrm>
            <a:off x="8385048" y="1371600"/>
            <a:ext cx="30449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Phase 3: Intelligence</a:t>
            </a:r>
            <a:endParaRPr lang="en-US" sz="1500"/>
          </a:p>
        </p:txBody>
      </p:sp>
      <p:sp>
        <p:nvSpPr>
          <p:cNvPr id="229" name="Text"/>
          <p:cNvSpPr txBox="1"/>
          <p:nvPr/>
        </p:nvSpPr>
        <p:spPr>
          <a:xfrm>
            <a:off x="8385048" y="1737360"/>
            <a:ext cx="304495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Integrate threat feeds, trained detectors, OCR/media pipelines, pgvector retrieval, and evidence-backed AI recommendations.</a:t>
            </a:r>
            <a:endParaRPr lang="en-US" sz="1200"/>
          </a:p>
        </p:txBody>
      </p:sp>
      <p:sp>
        <p:nvSpPr>
          <p:cNvPr id="230" name="Card"/>
          <p:cNvSpPr/>
          <p:nvPr/>
        </p:nvSpPr>
        <p:spPr>
          <a:xfrm>
            <a:off x="2514600" y="3246120"/>
            <a:ext cx="3429000" cy="10789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1" name="Accent"/>
          <p:cNvSpPr/>
          <p:nvPr/>
        </p:nvSpPr>
        <p:spPr>
          <a:xfrm>
            <a:off x="2514600" y="3246120"/>
            <a:ext cx="73152" cy="1078992"/>
          </a:xfrm>
          <a:prstGeom prst="roundRect">
            <a:avLst>
              <a:gd name="adj" fmla="val 9000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2" name="Text"/>
          <p:cNvSpPr txBox="1"/>
          <p:nvPr/>
        </p:nvSpPr>
        <p:spPr>
          <a:xfrm>
            <a:off x="2715768" y="3410712"/>
            <a:ext cx="30449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Phase 4: Enterprise</a:t>
            </a:r>
            <a:endParaRPr lang="en-US" sz="1500"/>
          </a:p>
        </p:txBody>
      </p:sp>
      <p:sp>
        <p:nvSpPr>
          <p:cNvPr id="233" name="Text"/>
          <p:cNvSpPr txBox="1"/>
          <p:nvPr/>
        </p:nvSpPr>
        <p:spPr>
          <a:xfrm>
            <a:off x="2715768" y="3776472"/>
            <a:ext cx="304495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Device-owner policies, admin controls, compliance reporting, attestation, signed feed updates, and fleet-level dashboards.</a:t>
            </a:r>
            <a:endParaRPr lang="en-US" sz="1200"/>
          </a:p>
        </p:txBody>
      </p:sp>
      <p:sp>
        <p:nvSpPr>
          <p:cNvPr id="234" name="Card"/>
          <p:cNvSpPr/>
          <p:nvPr/>
        </p:nvSpPr>
        <p:spPr>
          <a:xfrm>
            <a:off x="6355080" y="3246120"/>
            <a:ext cx="3429000" cy="10789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5" name="Accent"/>
          <p:cNvSpPr/>
          <p:nvPr/>
        </p:nvSpPr>
        <p:spPr>
          <a:xfrm>
            <a:off x="6355080" y="3246120"/>
            <a:ext cx="73152" cy="1078992"/>
          </a:xfrm>
          <a:prstGeom prst="roundRect">
            <a:avLst>
              <a:gd name="adj" fmla="val 9000"/>
            </a:avLst>
          </a:prstGeom>
          <a:solidFill>
            <a:srgbClr val="B91C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6" name="Text"/>
          <p:cNvSpPr txBox="1"/>
          <p:nvPr/>
        </p:nvSpPr>
        <p:spPr>
          <a:xfrm>
            <a:off x="6556248" y="3410712"/>
            <a:ext cx="30449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1">
                <a:solidFill>
                  <a:srgbClr val="0B1726"/>
                </a:solidFill>
                <a:latin typeface="Aptos"/>
              </a:rPr>
              <a:t>Phase 5: Scale</a:t>
            </a:r>
            <a:endParaRPr lang="en-US" sz="1500"/>
          </a:p>
        </p:txBody>
      </p:sp>
      <p:sp>
        <p:nvSpPr>
          <p:cNvPr id="237" name="Text"/>
          <p:cNvSpPr txBox="1"/>
          <p:nvPr/>
        </p:nvSpPr>
        <p:spPr>
          <a:xfrm>
            <a:off x="6556248" y="3776472"/>
            <a:ext cx="304495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16174"/>
                </a:solidFill>
                <a:latin typeface="Aptos"/>
              </a:rPr>
              <a:t>Split microservices, tune worker queues, expand monitoring, add incident response workflows, and formalize release gates.</a:t>
            </a:r>
            <a:endParaRPr lang="en-U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Close Background"/>
          <p:cNvSpPr/>
          <p:nvPr/>
        </p:nvSpPr>
        <p:spPr>
          <a:xfrm>
            <a:off x="0" y="0"/>
            <a:ext cx="13333333" cy="7500000"/>
          </a:xfrm>
          <a:prstGeom prst="roundRect">
            <a:avLst>
              <a:gd name="adj" fmla="val 9000"/>
            </a:avLst>
          </a:prstGeom>
          <a:solidFill>
            <a:srgbClr val="0714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9" name="Top Bar"/>
          <p:cNvSpPr/>
          <p:nvPr/>
        </p:nvSpPr>
        <p:spPr>
          <a:xfrm>
            <a:off x="0" y="0"/>
            <a:ext cx="13333333" cy="201168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0" name="Text"/>
          <p:cNvSpPr txBox="1"/>
          <p:nvPr/>
        </p:nvSpPr>
        <p:spPr>
          <a:xfrm>
            <a:off x="822960" y="114300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800" b="1">
                <a:solidFill>
                  <a:srgbClr val="FFFFFF"/>
                </a:solidFill>
                <a:latin typeface="Aptos"/>
              </a:rPr>
              <a:t>Summary</a:t>
            </a:r>
            <a:endParaRPr lang="en-US" sz="3800"/>
          </a:p>
        </p:txBody>
      </p:sp>
      <p:sp>
        <p:nvSpPr>
          <p:cNvPr id="241" name="Bullets"/>
          <p:cNvSpPr txBox="1"/>
          <p:nvPr/>
        </p:nvSpPr>
        <p:spPr>
          <a:xfrm>
            <a:off x="914400" y="2148840"/>
            <a:ext cx="978408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Font typeface="Aptos"/>
              <a:buChar char="•"/>
            </a:pPr>
            <a:r>
              <a:rPr lang="en-US" sz="2200">
                <a:solidFill>
                  <a:srgbClr val="E5EDF6"/>
                </a:solidFill>
                <a:latin typeface="Aptos"/>
              </a:rPr>
              <a:t>SentryNet already has a working Android security dashboard and a modular privacy-first FastAPI backend.</a:t>
            </a:r>
            <a:endParaRPr lang="en-US" sz="2200"/>
          </a:p>
          <a:p>
            <a:pPr marL="285750" indent="-171450">
              <a:buFont typeface="Aptos"/>
              <a:buChar char="•"/>
            </a:pPr>
            <a:r>
              <a:rPr lang="en-US" sz="2200">
                <a:solidFill>
                  <a:srgbClr val="E5EDF6"/>
                </a:solidFill>
                <a:latin typeface="Aptos"/>
              </a:rPr>
              <a:t>The architecture is built around local-first scanning, consent-gated cloud analysis, explainable findings, and redacted auditability.</a:t>
            </a:r>
            <a:endParaRPr lang="en-US" sz="2200"/>
          </a:p>
          <a:p>
            <a:pPr marL="285750" indent="-171450">
              <a:buFont typeface="Aptos"/>
              <a:buChar char="•"/>
            </a:pPr>
            <a:r>
              <a:rPr lang="en-US" sz="2200">
                <a:solidFill>
                  <a:srgbClr val="E5EDF6"/>
                </a:solidFill>
                <a:latin typeface="Aptos"/>
              </a:rPr>
              <a:t>The next investment should focus on connecting mobile events to production API flows, persistence, trained detection, threat intelligence, and stronger identity/security controls.</a:t>
            </a:r>
            <a:endParaRPr lang="en-US" sz="2200"/>
          </a:p>
        </p:txBody>
      </p:sp>
      <p:sp>
        <p:nvSpPr>
          <p:cNvPr id="242" name="Text"/>
          <p:cNvSpPr txBox="1"/>
          <p:nvPr/>
        </p:nvSpPr>
        <p:spPr>
          <a:xfrm>
            <a:off x="914400" y="5577840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>
                <a:solidFill>
                  <a:srgbClr val="A9B8CA"/>
                </a:solidFill>
                <a:latin typeface="Aptos"/>
              </a:rPr>
              <a:t>Mobile Privacy Guardian Application Presentation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ryNet Theme">
  <a:themeElements>
    <a:clrScheme name="SentryNet">
      <a:dk1>
        <a:srgbClr val="0B1726"/>
      </a:dk1>
      <a:lt1>
        <a:srgbClr val="FFFFFF"/>
      </a:lt1>
      <a:dk2>
        <a:srgbClr val="334155"/>
      </a:dk2>
      <a:lt2>
        <a:srgbClr val="F4F7FA"/>
      </a:lt2>
      <a:accent1>
        <a:srgbClr val="0D9488"/>
      </a:accent1>
      <a:accent2>
        <a:srgbClr val="2563EB"/>
      </a:accent2>
      <a:accent3>
        <a:srgbClr val="166534"/>
      </a:accent3>
      <a:accent4>
        <a:srgbClr val="B45309"/>
      </a:accent4>
      <a:accent5>
        <a:srgbClr val="B91C1C"/>
      </a:accent5>
      <a:accent6>
        <a:srgbClr val="64748B"/>
      </a:accent6>
      <a:hlink>
        <a:srgbClr val="2563EB"/>
      </a:hlink>
      <a:folHlink>
        <a:srgbClr val="0F766E"/>
      </a:folHlink>
    </a:clrScheme>
    <a:fontScheme name="Aptos">
      <a:majorFont>
        <a:latin typeface="Aptos"/>
      </a:majorFont>
      <a:minorFont>
        <a:latin typeface="Aptos"/>
      </a:minorFont>
    </a:fontScheme>
    <a:fmtScheme name="SentryNe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14</Slides>
  <Notes>0</Notes>
  <HiddenSlides>0</Hidden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SentryNet Project Presentation</dc:title>
  <dc:subject>Mobile Privacy Guardian progress, architecture, technologies, flow, and roadmap</dc:subject>
  <dc:creator>Codex</dc:creator>
  <cp:lastModifiedBy>Codex</cp:lastModifiedBy>
  <dcterms:created xsi:type="dcterms:W3CDTF">2026-06-16T17:46:27+00:00</dcterms:created>
  <dcterms:modified xsi:type="dcterms:W3CDTF">2026-06-16T17:46:27+00:00</dcterms:modified>
</cp:coreProperties>
</file>